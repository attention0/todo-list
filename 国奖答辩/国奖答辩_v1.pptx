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4abf626dea4c5c" /><Relationship Type="http://schemas.openxmlformats.org/officeDocument/2006/relationships/extended-properties" Target="/docProps/app.xml" Id="Rfec33e977640461c" /><Relationship Type="http://schemas.openxmlformats.org/officeDocument/2006/relationships/officeDocument" Target="/ppt/presentation.xml" Id="R53c52915aee54a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10af91428b4bd9"/>
  </p:sldMasterIdLst>
  <p:notesMasterIdLst>
    <p:notesMasterId xmlns:r="http://schemas.openxmlformats.org/officeDocument/2006/relationships" r:id="R21355a6349b34a5f"/>
  </p:notesMasterIdLst>
  <p:sldIdLst>
    <p:sldId xmlns:r="http://schemas.openxmlformats.org/officeDocument/2006/relationships" id="256" r:id="Ra61b6b4cb1cc40e7"/>
    <p:sldId xmlns:r="http://schemas.openxmlformats.org/officeDocument/2006/relationships" id="257" r:id="R35a2cdccc2e24162"/>
    <p:sldId xmlns:r="http://schemas.openxmlformats.org/officeDocument/2006/relationships" id="258" r:id="R44b13f748cad4b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2e92bd7d844ade" /><Relationship Type="http://schemas.openxmlformats.org/officeDocument/2006/relationships/slideMaster" Target="/ppt/slideMasters/slideMaster1.xml" Id="R7910af91428b4bd9" /><Relationship Type="http://schemas.openxmlformats.org/officeDocument/2006/relationships/notesMaster" Target="/ppt/notesMasters/notesMaster1.xml" Id="R21355a6349b34a5f" /><Relationship Type="http://schemas.openxmlformats.org/officeDocument/2006/relationships/presProps" Target="/ppt/presProps.xml" Id="Rfbc3c03f5e5d4250" /><Relationship Type="http://schemas.openxmlformats.org/officeDocument/2006/relationships/tableStyles" Target="/ppt/tableStyles.xml" Id="Rf64dde7aaac14027" /><Relationship Type="http://schemas.openxmlformats.org/officeDocument/2006/relationships/slide" Target="/ppt/slides/slide1.xml" Id="Ra61b6b4cb1cc40e7" /><Relationship Type="http://schemas.openxmlformats.org/officeDocument/2006/relationships/slide" Target="/ppt/slides/slide2.xml" Id="R35a2cdccc2e24162" /><Relationship Type="http://schemas.openxmlformats.org/officeDocument/2006/relationships/slide" Target="/ppt/slides/slide3.xml" Id="R44b13f748cad4b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45adc38bbd43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db470009774f6f" /><Relationship Type="http://schemas.openxmlformats.org/officeDocument/2006/relationships/notesMaster" Target="/ppt/notesMasters/notesMaster1.xml" Id="R84b1aaa22a774e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8ca00cdff74ba6" /><Relationship Type="http://schemas.openxmlformats.org/officeDocument/2006/relationships/notesMaster" Target="/ppt/notesMasters/notesMaster1.xml" Id="R8b67dad329be4d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30852374104663" /><Relationship Type="http://schemas.openxmlformats.org/officeDocument/2006/relationships/notesMaster" Target="/ppt/notesMasters/notesMaster1.xml" Id="R1da37647409548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。我本科专业排名第一，并在国发院博士选拔中取得夏令营笔试第一，获评优秀营员，目前是西方经济学直博一年级学生。本科在人大统计学院的训练，为我打下了数量分析基础。过去一年，我经校内选拔赴港大商学院交换，全校仅四人，并获得冯氏交换奖学金。我在核心课程中取得A，也旁听了劳动经济学博士课程。这段经历，让我进一步拓展经济学训练，开始从学习知识转向提出研究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内容来源：Attention0/todo-list，国奖答辩/SPEC.md（a9a56283）。官方校徽：https://www.pku.edu.cn/Uploads/Picture/2019/12/26/s5e04147ee4a83.png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最持续关注的是社会公平正义。两项工作共同关注制度如何影响公平结果：制度安排，怎样转化为个体层面的机会与结果差异？第一项工作聚焦司法公平。我基于一百多万份企业经济纠纷裁判文书，研究司法裁判歧视如何被量化和识别，使用文本分析、聚类与实证识别方法。这项主修毕业论文获得九十二分，答辩评价优秀。第二项工作聚焦空间公平。我基于百万级平台二手房交易数据，通过行政边界附近的断点回归，研究行政边界造成的空间不平等。相关成果经修改后已投稿《Nature Cities》。这两项工作使我逐步形成一个共同的研究关切：从具体制度与边界出发，观察机会和资源配置，并研究公平结果。下一阶段，我希望在博士训练中继续深化这一问题。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内容来源：Attention0/todo-list，国奖答辩/SPEC.md（a9a56283）。官方校徽：https://www.pku.edu.cn/Uploads/Picture/2019/12/26/s5e04147ee4a83.png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术之外，我本科四年连续担任团支部书记。上一学年，我继续履职，带领班级连续第二年获得统计学院示范班集体，全院评比第四。我也担任本科生第一党支部纪检委员，并在毕业时获评人大优秀毕业生。对我而言，集体工作意味着持续承担具体责任。进入国发院后，我现任二〇二六级研究生党支部书记，继续为同学和集体服务。未来，我希望从中国现实问题出发，在规范的经济学训练中持续研究制度、发展与公平。谢谢各位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内容来源：Attention0/todo-list，国奖答辩/SPEC.md（a9a56283）。官方校徽：https://www.pku.edu.cn/Uploads/Picture/2019/12/26/s5e04147ee4a83.png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b61de5c0b4d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b35c8ce5b94b52" /><Relationship Type="http://schemas.openxmlformats.org/officeDocument/2006/relationships/slideLayout" Target="/ppt/slideLayouts/slideLayout1.xml" Id="R2fec020a0a1b42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ec020a0a1b42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4ec92de0e4bf5" /><Relationship Type="http://schemas.openxmlformats.org/officeDocument/2006/relationships/image" Target="/ppt/media/image.png" Id="R033e2a966e584c4e" /><Relationship Type="http://schemas.openxmlformats.org/officeDocument/2006/relationships/notesSlide" Target="/ppt/notesSlides/notesSlide1.xml" Id="R058d6b374d0947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9c33c5ba04916" /><Relationship Type="http://schemas.openxmlformats.org/officeDocument/2006/relationships/image" Target="/ppt/media/image2.png" Id="R7ce09b3ae172436b" /><Relationship Type="http://schemas.openxmlformats.org/officeDocument/2006/relationships/notesSlide" Target="/ppt/notesSlides/notesSlide2.xml" Id="Rf0f78e3e9c7742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f6359b0cc4be7" /><Relationship Type="http://schemas.openxmlformats.org/officeDocument/2006/relationships/image" Target="/ppt/media/image3.png" Id="R5142192d8e1e435f" /><Relationship Type="http://schemas.openxmlformats.org/officeDocument/2006/relationships/notesSlide" Target="/ppt/notesSlides/notesSlide3.xml" Id="Rcf372773187f45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red-header">
            <a:extLst xmlns:a="http://schemas.openxmlformats.org/drawingml/2006/main">
              <a:ext uri="{FF2B5EF4-FFF2-40B4-BE49-F238E27FC236}">
                <a16:creationId xmlns:a16="http://schemas.microsoft.com/office/drawing/2014/main" id="{277A5915-B50D-4E1B-85CF-2291C372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</p:sp>
      <p:sp>
        <p:nvSpPr>
          <p:cNvPr id="2" name="red-footer">
            <a:extLst xmlns:a="http://schemas.openxmlformats.org/drawingml/2006/main">
              <a:ext uri="{FF2B5EF4-FFF2-40B4-BE49-F238E27FC236}">
                <a16:creationId xmlns:a16="http://schemas.microsoft.com/office/drawing/2014/main" id="{15D83AA6-643B-455D-8EBD-6237D4A5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</p:sp>
      <p:sp>
        <p:nvSpPr>
          <p:cNvPr id="3" name="header-dot">
            <a:extLst xmlns:a="http://schemas.openxmlformats.org/drawingml/2006/main">
              <a:ext uri="{FF2B5EF4-FFF2-40B4-BE49-F238E27FC236}">
                <a16:creationId xmlns:a16="http://schemas.microsoft.com/office/drawing/2014/main" id="{DD740BFA-871E-4E1E-B503-0073C728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part">
            <a:extLst xmlns:a="http://schemas.openxmlformats.org/drawingml/2006/main">
              <a:ext uri="{FF2B5EF4-FFF2-40B4-BE49-F238E27FC236}">
                <a16:creationId xmlns:a16="http://schemas.microsoft.com/office/drawing/2014/main" id="{EF6E066C-D097-496C-91D9-BF77D198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Part1：扎根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E8BEB80-DBF4-414A-8B9C-EE3506D6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19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—— 从专业第一到国发直博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e2a966e584c4e"/>
          <a:stretch xmlns:a="http://schemas.openxmlformats.org/drawingml/2006/main"/>
        </p:blipFill>
        <p:spPr>
          <a:xfrm xmlns:a="http://schemas.openxmlformats.org/drawingml/2006/main">
            <a:off x="11068050" y="8572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7" name="rank-label">
            <a:extLst xmlns:a="http://schemas.openxmlformats.org/drawingml/2006/main">
              <a:ext uri="{FF2B5EF4-FFF2-40B4-BE49-F238E27FC236}">
                <a16:creationId xmlns:a16="http://schemas.microsoft.com/office/drawing/2014/main" id="{E71D2A6F-AC25-4348-91EB-0E4CE05A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0125"/>
            <a:ext cx="1790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本科专业排名</a:t>
            </a:r>
          </a:p>
        </p:txBody>
      </p:sp>
      <p:sp>
        <p:nvSpPr>
          <p:cNvPr id="8" name="exam-label">
            <a:extLst xmlns:a="http://schemas.openxmlformats.org/drawingml/2006/main">
              <a:ext uri="{FF2B5EF4-FFF2-40B4-BE49-F238E27FC236}">
                <a16:creationId xmlns:a16="http://schemas.microsoft.com/office/drawing/2014/main" id="{590EEE4E-7C08-4AA1-9A35-1589EA2B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000125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国发博士选拔</a:t>
            </a:r>
          </a:p>
        </p:txBody>
      </p:sp>
      <p:sp>
        <p:nvSpPr>
          <p:cNvPr id="9" name="rank-value-border">
            <a:extLst xmlns:a="http://schemas.openxmlformats.org/drawingml/2006/main">
              <a:ext uri="{FF2B5EF4-FFF2-40B4-BE49-F238E27FC236}">
                <a16:creationId xmlns:a16="http://schemas.microsoft.com/office/drawing/2014/main" id="{608CD37E-732A-4B35-A0E8-3ADEE6A5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33525"/>
            <a:ext cx="3067050" cy="9429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F0012"/>
            </a:solidFill>
          </a:ln>
        </p:spPr>
      </p:sp>
      <p:sp>
        <p:nvSpPr>
          <p:cNvPr id="10" name="exam-value-border">
            <a:extLst xmlns:a="http://schemas.openxmlformats.org/drawingml/2006/main">
              <a:ext uri="{FF2B5EF4-FFF2-40B4-BE49-F238E27FC236}">
                <a16:creationId xmlns:a16="http://schemas.microsoft.com/office/drawing/2014/main" id="{2F3FDA96-24AF-4FA2-829C-EE87900C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33525"/>
            <a:ext cx="3333750" cy="9429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F0012"/>
            </a:solidFill>
          </a:ln>
        </p:spPr>
      </p:sp>
      <p:sp>
        <p:nvSpPr>
          <p:cNvPr id="11" name="rank-value">
            <a:extLst xmlns:a="http://schemas.openxmlformats.org/drawingml/2006/main">
              <a:ext uri="{FF2B5EF4-FFF2-40B4-BE49-F238E27FC236}">
                <a16:creationId xmlns:a16="http://schemas.microsoft.com/office/drawing/2014/main" id="{FEE54DC4-8D11-4175-9C61-10C6B5A7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276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第 1</a:t>
            </a:r>
          </a:p>
        </p:txBody>
      </p:sp>
      <p:sp>
        <p:nvSpPr>
          <p:cNvPr id="12" name="rank-denominator">
            <a:extLst xmlns:a="http://schemas.openxmlformats.org/drawingml/2006/main">
              <a:ext uri="{FF2B5EF4-FFF2-40B4-BE49-F238E27FC236}">
                <a16:creationId xmlns:a16="http://schemas.microsoft.com/office/drawing/2014/main" id="{FE8F2EBC-27D4-4FFC-9C4F-D8AC1D82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1104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1/28</a:t>
            </a:r>
          </a:p>
        </p:txBody>
      </p:sp>
      <p:sp>
        <p:nvSpPr>
          <p:cNvPr id="13" name="exam-value">
            <a:extLst xmlns:a="http://schemas.openxmlformats.org/drawingml/2006/main">
              <a:ext uri="{FF2B5EF4-FFF2-40B4-BE49-F238E27FC236}">
                <a16:creationId xmlns:a16="http://schemas.microsoft.com/office/drawing/2014/main" id="{768A5BE9-2586-4992-BD5F-7FE6C22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811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笔试第 1</a:t>
            </a:r>
          </a:p>
        </p:txBody>
      </p:sp>
      <p:sp>
        <p:nvSpPr>
          <p:cNvPr id="14" name="undergrad">
            <a:extLst xmlns:a="http://schemas.openxmlformats.org/drawingml/2006/main">
              <a:ext uri="{FF2B5EF4-FFF2-40B4-BE49-F238E27FC236}">
                <a16:creationId xmlns:a16="http://schemas.microsoft.com/office/drawing/2014/main" id="{D28AE7CC-A405-4521-8033-4330F90B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中国人民大学统计学院 · 经济统计学</a:t>
            </a:r>
          </a:p>
        </p:txBody>
      </p:sp>
      <p:sp>
        <p:nvSpPr>
          <p:cNvPr id="15" name="gpa">
            <a:extLst xmlns:a="http://schemas.openxmlformats.org/drawingml/2006/main">
              <a:ext uri="{FF2B5EF4-FFF2-40B4-BE49-F238E27FC236}">
                <a16:creationId xmlns:a16="http://schemas.microsoft.com/office/drawing/2014/main" id="{CE0028D9-004B-428C-A0B2-11F80D0A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62275"/>
            <a:ext cx="319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GPA 3.87/4.00</a:t>
            </a:r>
          </a:p>
        </p:txBody>
      </p:sp>
      <p:sp>
        <p:nvSpPr>
          <p:cNvPr id="16" name="camp">
            <a:extLst xmlns:a="http://schemas.openxmlformats.org/drawingml/2006/main">
              <a:ext uri="{FF2B5EF4-FFF2-40B4-BE49-F238E27FC236}">
                <a16:creationId xmlns:a16="http://schemas.microsoft.com/office/drawing/2014/main" id="{A19BEDAF-4BD2-4235-A119-904EC790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47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夏令营优秀营员</a:t>
            </a:r>
          </a:p>
        </p:txBody>
      </p:sp>
      <p:sp>
        <p:nvSpPr>
          <p:cNvPr id="17" name="current">
            <a:extLst xmlns:a="http://schemas.openxmlformats.org/drawingml/2006/main">
              <a:ext uri="{FF2B5EF4-FFF2-40B4-BE49-F238E27FC236}">
                <a16:creationId xmlns:a16="http://schemas.microsoft.com/office/drawing/2014/main" id="{EEAA4919-D390-4830-9A85-F4FC1B1F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6227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现为西方经济学直博一年级</a:t>
            </a:r>
          </a:p>
        </p:txBody>
      </p:sp>
      <p:sp>
        <p:nvSpPr>
          <p:cNvPr id="18" name="gold-divider">
            <a:extLst xmlns:a="http://schemas.openxmlformats.org/drawingml/2006/main">
              <a:ext uri="{FF2B5EF4-FFF2-40B4-BE49-F238E27FC236}">
                <a16:creationId xmlns:a16="http://schemas.microsoft.com/office/drawing/2014/main" id="{77C0D812-32C4-423B-ABEB-DEE0CA4A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600450"/>
            <a:ext cx="6943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15B"/>
            </a:solidFill>
            <a:prstDash val="dash"/>
          </a:ln>
        </p:spPr>
      </p:sp>
      <p:sp>
        <p:nvSpPr>
          <p:cNvPr id="19" name="path-abbreviation-0">
            <a:extLst xmlns:a="http://schemas.openxmlformats.org/drawingml/2006/main">
              <a:ext uri="{FF2B5EF4-FFF2-40B4-BE49-F238E27FC236}">
                <a16:creationId xmlns:a16="http://schemas.microsoft.com/office/drawing/2014/main" id="{E5C719E9-4873-46EB-8888-A0AC7918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7667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RUC</a:t>
            </a:r>
          </a:p>
        </p:txBody>
      </p:sp>
      <p:sp>
        <p:nvSpPr>
          <p:cNvPr id="20" name="path-school-0">
            <a:extLst xmlns:a="http://schemas.openxmlformats.org/drawingml/2006/main">
              <a:ext uri="{FF2B5EF4-FFF2-40B4-BE49-F238E27FC236}">
                <a16:creationId xmlns:a16="http://schemas.microsoft.com/office/drawing/2014/main" id="{5D72DCB0-F977-45CB-AB35-9F288658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中国人民大学</a:t>
            </a:r>
          </a:p>
        </p:txBody>
      </p:sp>
      <p:sp>
        <p:nvSpPr>
          <p:cNvPr id="21" name="path-caption-0">
            <a:extLst xmlns:a="http://schemas.openxmlformats.org/drawingml/2006/main">
              <a:ext uri="{FF2B5EF4-FFF2-40B4-BE49-F238E27FC236}">
                <a16:creationId xmlns:a16="http://schemas.microsoft.com/office/drawing/2014/main" id="{3926188C-265C-464D-87B8-50E06897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专业第一</a:t>
            </a:r>
          </a:p>
        </p:txBody>
      </p:sp>
      <p:sp>
        <p:nvSpPr>
          <p:cNvPr id="22" name="path-arrow-0">
            <a:extLst xmlns:a="http://schemas.openxmlformats.org/drawingml/2006/main">
              <a:ext uri="{FF2B5EF4-FFF2-40B4-BE49-F238E27FC236}">
                <a16:creationId xmlns:a16="http://schemas.microsoft.com/office/drawing/2014/main" id="{83068B39-2FB8-472A-88E3-2EA2CC42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67175"/>
            <a:ext cx="447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C6A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6A15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path-abbreviation-1">
            <a:extLst xmlns:a="http://schemas.openxmlformats.org/drawingml/2006/main">
              <a:ext uri="{FF2B5EF4-FFF2-40B4-BE49-F238E27FC236}">
                <a16:creationId xmlns:a16="http://schemas.microsoft.com/office/drawing/2014/main" id="{EDB363BC-A876-4C07-8FD0-01CEDC43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7667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HKU</a:t>
            </a:r>
          </a:p>
        </p:txBody>
      </p:sp>
      <p:sp>
        <p:nvSpPr>
          <p:cNvPr id="24" name="path-school-1">
            <a:extLst xmlns:a="http://schemas.openxmlformats.org/drawingml/2006/main">
              <a:ext uri="{FF2B5EF4-FFF2-40B4-BE49-F238E27FC236}">
                <a16:creationId xmlns:a16="http://schemas.microsoft.com/office/drawing/2014/main" id="{E3204F3C-4136-4AC2-9FDA-3F1EC4A3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38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香港大学</a:t>
            </a:r>
          </a:p>
        </p:txBody>
      </p:sp>
      <p:sp>
        <p:nvSpPr>
          <p:cNvPr id="25" name="path-caption-1">
            <a:extLst xmlns:a="http://schemas.openxmlformats.org/drawingml/2006/main">
              <a:ext uri="{FF2B5EF4-FFF2-40B4-BE49-F238E27FC236}">
                <a16:creationId xmlns:a16="http://schemas.microsoft.com/office/drawing/2014/main" id="{8F0137CB-F1CC-4D2A-8E09-F5471E53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196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竞争性交换</a:t>
            </a:r>
          </a:p>
        </p:txBody>
      </p:sp>
      <p:sp>
        <p:nvSpPr>
          <p:cNvPr id="26" name="path-arrow-1">
            <a:extLst xmlns:a="http://schemas.openxmlformats.org/drawingml/2006/main">
              <a:ext uri="{FF2B5EF4-FFF2-40B4-BE49-F238E27FC236}">
                <a16:creationId xmlns:a16="http://schemas.microsoft.com/office/drawing/2014/main" id="{15D96611-D29E-4095-99AB-4AB0D6ED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67175"/>
            <a:ext cx="447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C6A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6A15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path-abbreviation-2">
            <a:extLst xmlns:a="http://schemas.openxmlformats.org/drawingml/2006/main">
              <a:ext uri="{FF2B5EF4-FFF2-40B4-BE49-F238E27FC236}">
                <a16:creationId xmlns:a16="http://schemas.microsoft.com/office/drawing/2014/main" id="{6182202B-C5AD-4B8B-9A2C-8848C10A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7667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PKU</a:t>
            </a:r>
          </a:p>
        </p:txBody>
      </p:sp>
      <p:sp>
        <p:nvSpPr>
          <p:cNvPr id="28" name="path-school-2">
            <a:extLst xmlns:a="http://schemas.openxmlformats.org/drawingml/2006/main">
              <a:ext uri="{FF2B5EF4-FFF2-40B4-BE49-F238E27FC236}">
                <a16:creationId xmlns:a16="http://schemas.microsoft.com/office/drawing/2014/main" id="{62B83324-7102-4EC6-A5DB-E63DCD7A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38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北京大学国发院</a:t>
            </a:r>
          </a:p>
        </p:txBody>
      </p:sp>
      <p:sp>
        <p:nvSpPr>
          <p:cNvPr id="29" name="path-caption-2">
            <a:extLst xmlns:a="http://schemas.openxmlformats.org/drawingml/2006/main">
              <a:ext uri="{FF2B5EF4-FFF2-40B4-BE49-F238E27FC236}">
                <a16:creationId xmlns:a16="http://schemas.microsoft.com/office/drawing/2014/main" id="{20184F4F-E42D-4FD4-91F2-42F58535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196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西方经济学直博</a:t>
            </a:r>
          </a:p>
        </p:txBody>
      </p:sp>
      <p:sp>
        <p:nvSpPr>
          <p:cNvPr id="30" name="takeaway">
            <a:extLst xmlns:a="http://schemas.openxmlformats.org/drawingml/2006/main">
              <a:ext uri="{FF2B5EF4-FFF2-40B4-BE49-F238E27FC236}">
                <a16:creationId xmlns:a16="http://schemas.microsoft.com/office/drawing/2014/main" id="{9D667A94-E2C5-495B-85A9-444BF448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81675"/>
            <a:ext cx="704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以扎实训练完成从本科生向经济学研究者的过渡。</a:t>
            </a:r>
          </a:p>
        </p:txBody>
      </p:sp>
      <p:sp>
        <p:nvSpPr>
          <p:cNvPr id="31" name="gold-divider">
            <a:extLst xmlns:a="http://schemas.openxmlformats.org/drawingml/2006/main">
              <a:ext uri="{FF2B5EF4-FFF2-40B4-BE49-F238E27FC236}">
                <a16:creationId xmlns:a16="http://schemas.microsoft.com/office/drawing/2014/main" id="{2269D336-5DBA-45E1-9CAC-F5A7260A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047750"/>
            <a:ext cx="0" cy="5248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15B"/>
            </a:solidFill>
            <a:prstDash val="dash"/>
          </a:ln>
        </p:spPr>
      </p:sp>
      <p:sp>
        <p:nvSpPr>
          <p:cNvPr id="32" name="exchange-background">
            <a:extLst xmlns:a="http://schemas.openxmlformats.org/drawingml/2006/main">
              <a:ext uri="{FF2B5EF4-FFF2-40B4-BE49-F238E27FC236}">
                <a16:creationId xmlns:a16="http://schemas.microsoft.com/office/drawing/2014/main" id="{94A6E5EA-3A69-4038-88FC-317F92CE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981075"/>
            <a:ext cx="3619500" cy="5324475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8F6F3"/>
          </a:solidFill>
          <a:ln xmlns:a="http://schemas.openxmlformats.org/drawingml/2006/main" w="0">
            <a:noFill/>
          </a:ln>
        </p:spPr>
      </p:sp>
      <p:sp>
        <p:nvSpPr>
          <p:cNvPr id="33" name="exchange-label">
            <a:extLst xmlns:a="http://schemas.openxmlformats.org/drawingml/2006/main">
              <a:ext uri="{FF2B5EF4-FFF2-40B4-BE49-F238E27FC236}">
                <a16:creationId xmlns:a16="http://schemas.microsoft.com/office/drawing/2014/main" id="{28B3E891-3D74-4FAB-9EE2-3D2A6A99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52525"/>
            <a:ext cx="1952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HKU Exchange</a:t>
            </a:r>
          </a:p>
        </p:txBody>
      </p:sp>
      <p:sp>
        <p:nvSpPr>
          <p:cNvPr id="34" name="exchange-date">
            <a:extLst xmlns:a="http://schemas.openxmlformats.org/drawingml/2006/main">
              <a:ext uri="{FF2B5EF4-FFF2-40B4-BE49-F238E27FC236}">
                <a16:creationId xmlns:a16="http://schemas.microsoft.com/office/drawing/2014/main" id="{92AE8DDE-A939-4A39-8639-AE9A4577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85925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2025 年秋季 · 香港大学商学院</a:t>
            </a:r>
          </a:p>
        </p:txBody>
      </p:sp>
      <p:sp>
        <p:nvSpPr>
          <p:cNvPr id="35" name="exchange-selection">
            <a:extLst xmlns:a="http://schemas.openxmlformats.org/drawingml/2006/main">
              <a:ext uri="{FF2B5EF4-FFF2-40B4-BE49-F238E27FC236}">
                <a16:creationId xmlns:a16="http://schemas.microsoft.com/office/drawing/2014/main" id="{905FB169-AA4F-46BC-B8A5-C6CA92D7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4 人</a:t>
            </a:r>
          </a:p>
        </p:txBody>
      </p:sp>
      <p:sp>
        <p:nvSpPr>
          <p:cNvPr id="36" name="exchange-school">
            <a:extLst xmlns:a="http://schemas.openxmlformats.org/drawingml/2006/main">
              <a:ext uri="{FF2B5EF4-FFF2-40B4-BE49-F238E27FC236}">
                <a16:creationId xmlns:a16="http://schemas.microsoft.com/office/drawing/2014/main" id="{3417C8BB-68A7-4193-957C-3AD0A87B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190750"/>
            <a:ext cx="1876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全校选拔赴港大交换</a:t>
            </a:r>
          </a:p>
        </p:txBody>
      </p:sp>
      <p:sp>
        <p:nvSpPr>
          <p:cNvPr id="37" name="scholarship-value">
            <a:extLst xmlns:a="http://schemas.openxmlformats.org/drawingml/2006/main">
              <a:ext uri="{FF2B5EF4-FFF2-40B4-BE49-F238E27FC236}">
                <a16:creationId xmlns:a16="http://schemas.microsoft.com/office/drawing/2014/main" id="{0E870D29-252C-4F00-9FAA-E8E2A981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95600"/>
            <a:ext cx="295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HK$16,000</a:t>
            </a:r>
          </a:p>
        </p:txBody>
      </p:sp>
      <p:sp>
        <p:nvSpPr>
          <p:cNvPr id="38" name="scholarship-name">
            <a:extLst xmlns:a="http://schemas.openxmlformats.org/drawingml/2006/main">
              <a:ext uri="{FF2B5EF4-FFF2-40B4-BE49-F238E27FC236}">
                <a16:creationId xmlns:a16="http://schemas.microsoft.com/office/drawing/2014/main" id="{F9605B5C-E209-40AE-9D3E-5A7C9AC2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95675"/>
            <a:ext cx="3152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冯氏交换奖学金</a:t>
            </a:r>
          </a:p>
        </p:txBody>
      </p:sp>
      <p:sp>
        <p:nvSpPr>
          <p:cNvPr id="39" name="scholarship-scope">
            <a:extLst xmlns:a="http://schemas.openxmlformats.org/drawingml/2006/main">
              <a:ext uri="{FF2B5EF4-FFF2-40B4-BE49-F238E27FC236}">
                <a16:creationId xmlns:a16="http://schemas.microsoft.com/office/drawing/2014/main" id="{B259DC0E-F96E-478D-A6CA-4114D382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2905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全校仅 3 人获奖</a:t>
            </a:r>
          </a:p>
        </p:txBody>
      </p:sp>
      <p:sp>
        <p:nvSpPr>
          <p:cNvPr id="40" name="gold-divider">
            <a:extLst xmlns:a="http://schemas.openxmlformats.org/drawingml/2006/main">
              <a:ext uri="{FF2B5EF4-FFF2-40B4-BE49-F238E27FC236}">
                <a16:creationId xmlns:a16="http://schemas.microsoft.com/office/drawing/2014/main" id="{3E78D04C-9242-46C5-8133-3604E8F1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14825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15B"/>
            </a:solidFill>
            <a:prstDash val="dash"/>
          </a:ln>
        </p:spPr>
      </p:sp>
      <p:sp>
        <p:nvSpPr>
          <p:cNvPr id="41" name="course-grade">
            <a:extLst xmlns:a="http://schemas.openxmlformats.org/drawingml/2006/main">
              <a:ext uri="{FF2B5EF4-FFF2-40B4-BE49-F238E27FC236}">
                <a16:creationId xmlns:a16="http://schemas.microsoft.com/office/drawing/2014/main" id="{6C12693C-81B2-4ED4-BC8A-19530AD8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86275"/>
            <a:ext cx="3133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核心课程 A</a:t>
            </a:r>
          </a:p>
        </p:txBody>
      </p:sp>
      <p:sp>
        <p:nvSpPr>
          <p:cNvPr id="42" name="course-audit">
            <a:extLst xmlns:a="http://schemas.openxmlformats.org/drawingml/2006/main">
              <a:ext uri="{FF2B5EF4-FFF2-40B4-BE49-F238E27FC236}">
                <a16:creationId xmlns:a16="http://schemas.microsoft.com/office/drawing/2014/main" id="{8EDBC1D5-D83B-4BAC-8EB8-FD2462CE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19675"/>
            <a:ext cx="3152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旁听博士课程</a:t>
            </a:r>
          </a:p>
        </p:txBody>
      </p:sp>
      <p:sp>
        <p:nvSpPr>
          <p:cNvPr id="43" name="course-name">
            <a:extLst xmlns:a="http://schemas.openxmlformats.org/drawingml/2006/main">
              <a:ext uri="{FF2B5EF4-FFF2-40B4-BE49-F238E27FC236}">
                <a16:creationId xmlns:a16="http://schemas.microsoft.com/office/drawing/2014/main" id="{4118CAB0-49F3-4242-B378-E6EBCD64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62575"/>
            <a:ext cx="31527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Advanced Topics in</a:t>
            </a:r>
          </a:p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Labor Economy</a:t>
            </a:r>
          </a:p>
        </p:txBody>
      </p:sp>
    </p:spTree>
    <p:extLst>
      <p:ext uri="{BB962C8B-B14F-4D97-AF65-F5344CB8AC3E}">
        <p14:creationId xmlns:p14="http://schemas.microsoft.com/office/powerpoint/2010/main" val="1596337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d-header">
            <a:extLst xmlns:a="http://schemas.openxmlformats.org/drawingml/2006/main">
              <a:ext uri="{FF2B5EF4-FFF2-40B4-BE49-F238E27FC236}">
                <a16:creationId xmlns:a16="http://schemas.microsoft.com/office/drawing/2014/main" id="{DBA1BB98-D35B-44CC-AE5C-F19DFED5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</p:sp>
      <p:sp>
        <p:nvSpPr>
          <p:cNvPr id="2" name="red-footer">
            <a:extLst xmlns:a="http://schemas.openxmlformats.org/drawingml/2006/main">
              <a:ext uri="{FF2B5EF4-FFF2-40B4-BE49-F238E27FC236}">
                <a16:creationId xmlns:a16="http://schemas.microsoft.com/office/drawing/2014/main" id="{A32D9D6C-FF60-4E43-A26B-628B3F46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</p:sp>
      <p:sp>
        <p:nvSpPr>
          <p:cNvPr id="3" name="header-dot">
            <a:extLst xmlns:a="http://schemas.openxmlformats.org/drawingml/2006/main">
              <a:ext uri="{FF2B5EF4-FFF2-40B4-BE49-F238E27FC236}">
                <a16:creationId xmlns:a16="http://schemas.microsoft.com/office/drawing/2014/main" id="{EB47983D-F648-4D73-9B90-92A59626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part">
            <a:extLst xmlns:a="http://schemas.openxmlformats.org/drawingml/2006/main">
              <a:ext uri="{FF2B5EF4-FFF2-40B4-BE49-F238E27FC236}">
                <a16:creationId xmlns:a16="http://schemas.microsoft.com/office/drawing/2014/main" id="{5191A8F6-F313-4CD3-99F3-61E97E51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Part2：求索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34EEDC3-6467-41B4-B801-ECA216F0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19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—— 以问题为锚，研究制度与公平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09b3ae172436b"/>
          <a:stretch xmlns:a="http://schemas.openxmlformats.org/drawingml/2006/main"/>
        </p:blipFill>
        <p:spPr>
          <a:xfrm xmlns:a="http://schemas.openxmlformats.org/drawingml/2006/main">
            <a:off x="11068050" y="8572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7" name="research-theme">
            <a:extLst xmlns:a="http://schemas.openxmlformats.org/drawingml/2006/main">
              <a:ext uri="{FF2B5EF4-FFF2-40B4-BE49-F238E27FC236}">
                <a16:creationId xmlns:a16="http://schemas.microsoft.com/office/drawing/2014/main" id="{D0B7A95D-D2B7-4FEB-8101-6D6AD046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81075"/>
            <a:ext cx="11239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聚焦社会公平正义</a:t>
            </a:r>
          </a:p>
        </p:txBody>
      </p:sp>
      <p:sp>
        <p:nvSpPr>
          <p:cNvPr id="8" name="research-theme-detail">
            <a:extLst xmlns:a="http://schemas.openxmlformats.org/drawingml/2006/main">
              <a:ext uri="{FF2B5EF4-FFF2-40B4-BE49-F238E27FC236}">
                <a16:creationId xmlns:a16="http://schemas.microsoft.com/office/drawing/2014/main" id="{DA9BCE79-1C51-4CDA-B09B-7EE52434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关注制度安排如何转化为个体层面的机会与结果差异</a:t>
            </a:r>
          </a:p>
        </p:txBody>
      </p:sp>
      <p:sp>
        <p:nvSpPr>
          <p:cNvPr id="9" name="gold-divider">
            <a:extLst xmlns:a="http://schemas.openxmlformats.org/drawingml/2006/main">
              <a:ext uri="{FF2B5EF4-FFF2-40B4-BE49-F238E27FC236}">
                <a16:creationId xmlns:a16="http://schemas.microsoft.com/office/drawing/2014/main" id="{EE8F75B4-82D2-4AE2-A634-71AD776E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0" cy="3305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15B"/>
            </a:solidFill>
            <a:prstDash val="dash"/>
          </a:ln>
        </p:spPr>
      </p:sp>
      <p:sp>
        <p:nvSpPr>
          <p:cNvPr id="10" name="research-label-0">
            <a:extLst xmlns:a="http://schemas.openxmlformats.org/drawingml/2006/main">
              <a:ext uri="{FF2B5EF4-FFF2-40B4-BE49-F238E27FC236}">
                <a16:creationId xmlns:a16="http://schemas.microsoft.com/office/drawing/2014/main" id="{6C820E89-AE1D-4E88-80D3-6A428973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05025"/>
            <a:ext cx="15335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司法公平</a:t>
            </a:r>
          </a:p>
        </p:txBody>
      </p:sp>
      <p:sp>
        <p:nvSpPr>
          <p:cNvPr id="11" name="data-volume-0">
            <a:extLst xmlns:a="http://schemas.openxmlformats.org/drawingml/2006/main">
              <a:ext uri="{FF2B5EF4-FFF2-40B4-BE49-F238E27FC236}">
                <a16:creationId xmlns:a16="http://schemas.microsoft.com/office/drawing/2014/main" id="{CCD68FEB-D3C7-4C8F-B03A-FA29DD0D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57475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100万+</a:t>
            </a:r>
          </a:p>
        </p:txBody>
      </p:sp>
      <p:sp>
        <p:nvSpPr>
          <p:cNvPr id="12" name="data-source-0">
            <a:extLst xmlns:a="http://schemas.openxmlformats.org/drawingml/2006/main">
              <a:ext uri="{FF2B5EF4-FFF2-40B4-BE49-F238E27FC236}">
                <a16:creationId xmlns:a16="http://schemas.microsoft.com/office/drawing/2014/main" id="{68841FF4-C21B-4C8D-9ED0-7AB2244A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企业经济纠纷裁判文书</a:t>
            </a:r>
          </a:p>
        </p:txBody>
      </p:sp>
      <p:sp>
        <p:nvSpPr>
          <p:cNvPr id="13" name="research-question-0">
            <a:extLst xmlns:a="http://schemas.openxmlformats.org/drawingml/2006/main">
              <a:ext uri="{FF2B5EF4-FFF2-40B4-BE49-F238E27FC236}">
                <a16:creationId xmlns:a16="http://schemas.microsoft.com/office/drawing/2014/main" id="{E60E0AFE-9C79-490C-9541-6A718EAA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司法裁判歧视如何被量化与识别？</a:t>
            </a:r>
          </a:p>
        </p:txBody>
      </p:sp>
      <p:sp>
        <p:nvSpPr>
          <p:cNvPr id="14" name="method-0">
            <a:extLst xmlns:a="http://schemas.openxmlformats.org/drawingml/2006/main">
              <a:ext uri="{FF2B5EF4-FFF2-40B4-BE49-F238E27FC236}">
                <a16:creationId xmlns:a16="http://schemas.microsoft.com/office/drawing/2014/main" id="{43295F7A-7796-45E9-9CB0-D9637613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624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文本分析　 /　 聚类　 /　 实证识别</a:t>
            </a:r>
          </a:p>
        </p:txBody>
      </p:sp>
      <p:sp>
        <p:nvSpPr>
          <p:cNvPr id="15" name="research-label-1">
            <a:extLst xmlns:a="http://schemas.openxmlformats.org/drawingml/2006/main">
              <a:ext uri="{FF2B5EF4-FFF2-40B4-BE49-F238E27FC236}">
                <a16:creationId xmlns:a16="http://schemas.microsoft.com/office/drawing/2014/main" id="{001D1622-D76F-4CFB-9B08-E21028C6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05025"/>
            <a:ext cx="15335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空间公平</a:t>
            </a:r>
          </a:p>
        </p:txBody>
      </p:sp>
      <p:sp>
        <p:nvSpPr>
          <p:cNvPr id="16" name="data-volume-1">
            <a:extLst xmlns:a="http://schemas.openxmlformats.org/drawingml/2006/main">
              <a:ext uri="{FF2B5EF4-FFF2-40B4-BE49-F238E27FC236}">
                <a16:creationId xmlns:a16="http://schemas.microsoft.com/office/drawing/2014/main" id="{46BF6368-6762-46A8-991D-837BA11A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57475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100万+</a:t>
            </a:r>
          </a:p>
        </p:txBody>
      </p:sp>
      <p:sp>
        <p:nvSpPr>
          <p:cNvPr id="17" name="data-source-1">
            <a:extLst xmlns:a="http://schemas.openxmlformats.org/drawingml/2006/main">
              <a:ext uri="{FF2B5EF4-FFF2-40B4-BE49-F238E27FC236}">
                <a16:creationId xmlns:a16="http://schemas.microsoft.com/office/drawing/2014/main" id="{F05AC0F7-5AF9-4DB2-B054-1AC2A865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29000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平台二手房交易记录</a:t>
            </a:r>
          </a:p>
        </p:txBody>
      </p:sp>
      <p:sp>
        <p:nvSpPr>
          <p:cNvPr id="18" name="research-question-1">
            <a:extLst xmlns:a="http://schemas.openxmlformats.org/drawingml/2006/main">
              <a:ext uri="{FF2B5EF4-FFF2-40B4-BE49-F238E27FC236}">
                <a16:creationId xmlns:a16="http://schemas.microsoft.com/office/drawing/2014/main" id="{DA949F3E-E954-476C-ABB6-8D13D48F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3860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行政边界如何造成空间不平等？</a:t>
            </a:r>
          </a:p>
        </p:txBody>
      </p:sp>
      <p:sp>
        <p:nvSpPr>
          <p:cNvPr id="19" name="method-1">
            <a:extLst xmlns:a="http://schemas.openxmlformats.org/drawingml/2006/main">
              <a:ext uri="{FF2B5EF4-FFF2-40B4-BE49-F238E27FC236}">
                <a16:creationId xmlns:a16="http://schemas.microsoft.com/office/drawing/2014/main" id="{C5135392-E195-4FDE-9D7A-0284BB6B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624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行政边界　 ×　 断点回归</a:t>
            </a:r>
          </a:p>
        </p:txBody>
      </p:sp>
      <p:sp>
        <p:nvSpPr>
          <p:cNvPr id="20" name="thesis-result">
            <a:extLst xmlns:a="http://schemas.openxmlformats.org/drawingml/2006/main">
              <a:ext uri="{FF2B5EF4-FFF2-40B4-BE49-F238E27FC236}">
                <a16:creationId xmlns:a16="http://schemas.microsoft.com/office/drawing/2014/main" id="{FA462E20-9AA5-45A6-88F6-2E2B17E4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5010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毕业论文：优秀 · 92 分</a:t>
            </a:r>
          </a:p>
        </p:txBody>
      </p:sp>
      <p:sp>
        <p:nvSpPr>
          <p:cNvPr id="21" name="submission-status">
            <a:extLst xmlns:a="http://schemas.openxmlformats.org/drawingml/2006/main">
              <a:ext uri="{FF2B5EF4-FFF2-40B4-BE49-F238E27FC236}">
                <a16:creationId xmlns:a16="http://schemas.microsoft.com/office/drawing/2014/main" id="{04D98242-CD53-46DA-9311-ACE65CD9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95875"/>
            <a:ext cx="501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相关成果经修改后投稿</a:t>
            </a:r>
          </a:p>
        </p:txBody>
      </p:sp>
      <p:sp>
        <p:nvSpPr>
          <p:cNvPr id="22" name="journal-name">
            <a:extLst xmlns:a="http://schemas.openxmlformats.org/drawingml/2006/main">
              <a:ext uri="{FF2B5EF4-FFF2-40B4-BE49-F238E27FC236}">
                <a16:creationId xmlns:a16="http://schemas.microsoft.com/office/drawing/2014/main" id="{7B6F6244-213D-49DF-B99E-F6F1B1BE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5019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《Nature Cities》</a:t>
            </a:r>
          </a:p>
        </p:txBody>
      </p:sp>
      <p:sp>
        <p:nvSpPr>
          <p:cNvPr id="23" name="gold-divider">
            <a:extLst xmlns:a="http://schemas.openxmlformats.org/drawingml/2006/main">
              <a:ext uri="{FF2B5EF4-FFF2-40B4-BE49-F238E27FC236}">
                <a16:creationId xmlns:a16="http://schemas.microsoft.com/office/drawing/2014/main" id="{7BF32FE6-80E8-4967-A48D-423F5618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67425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15B"/>
            </a:solidFill>
            <a:prstDash val="dash"/>
          </a:ln>
        </p:spPr>
      </p:sp>
      <p:sp>
        <p:nvSpPr>
          <p:cNvPr id="24" name="logic-left">
            <a:extLst xmlns:a="http://schemas.openxmlformats.org/drawingml/2006/main">
              <a:ext uri="{FF2B5EF4-FFF2-40B4-BE49-F238E27FC236}">
                <a16:creationId xmlns:a16="http://schemas.microsoft.com/office/drawing/2014/main" id="{2E3A0550-F30C-4E00-BDD4-6229918D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19825"/>
            <a:ext cx="3152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制度安排 / 制度边界</a:t>
            </a:r>
          </a:p>
        </p:txBody>
      </p:sp>
      <p:sp>
        <p:nvSpPr>
          <p:cNvPr id="25" name="logic-arrow-1">
            <a:extLst xmlns:a="http://schemas.openxmlformats.org/drawingml/2006/main">
              <a:ext uri="{FF2B5EF4-FFF2-40B4-BE49-F238E27FC236}">
                <a16:creationId xmlns:a16="http://schemas.microsoft.com/office/drawing/2014/main" id="{3B477E74-B68F-46EA-81AE-ED121411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219825"/>
            <a:ext cx="457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6A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6A15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logic-middle">
            <a:extLst xmlns:a="http://schemas.openxmlformats.org/drawingml/2006/main">
              <a:ext uri="{FF2B5EF4-FFF2-40B4-BE49-F238E27FC236}">
                <a16:creationId xmlns:a16="http://schemas.microsoft.com/office/drawing/2014/main" id="{50906737-B87C-4A25-9270-98ACD880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219825"/>
            <a:ext cx="3095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机会与资源配置</a:t>
            </a:r>
          </a:p>
        </p:txBody>
      </p:sp>
      <p:sp>
        <p:nvSpPr>
          <p:cNvPr id="27" name="logic-arrow-2">
            <a:extLst xmlns:a="http://schemas.openxmlformats.org/drawingml/2006/main">
              <a:ext uri="{FF2B5EF4-FFF2-40B4-BE49-F238E27FC236}">
                <a16:creationId xmlns:a16="http://schemas.microsoft.com/office/drawing/2014/main" id="{D3B773D6-8849-4D0A-A666-8F665E89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219825"/>
            <a:ext cx="457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6A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6A15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logic-right">
            <a:extLst xmlns:a="http://schemas.openxmlformats.org/drawingml/2006/main">
              <a:ext uri="{FF2B5EF4-FFF2-40B4-BE49-F238E27FC236}">
                <a16:creationId xmlns:a16="http://schemas.microsoft.com/office/drawing/2014/main" id="{A5FB2925-7450-48EF-BCF4-47ACE27E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19825"/>
            <a:ext cx="2476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公平结果</a:t>
            </a:r>
          </a:p>
        </p:txBody>
      </p:sp>
    </p:spTree>
    <p:extLst>
      <p:ext uri="{BB962C8B-B14F-4D97-AF65-F5344CB8AC3E}">
        <p14:creationId xmlns:p14="http://schemas.microsoft.com/office/powerpoint/2010/main" val="152581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d-header">
            <a:extLst xmlns:a="http://schemas.openxmlformats.org/drawingml/2006/main">
              <a:ext uri="{FF2B5EF4-FFF2-40B4-BE49-F238E27FC236}">
                <a16:creationId xmlns:a16="http://schemas.microsoft.com/office/drawing/2014/main" id="{B8C62A76-6374-43AB-A5E5-FC03DD4E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</p:sp>
      <p:sp>
        <p:nvSpPr>
          <p:cNvPr id="2" name="red-footer">
            <a:extLst xmlns:a="http://schemas.openxmlformats.org/drawingml/2006/main">
              <a:ext uri="{FF2B5EF4-FFF2-40B4-BE49-F238E27FC236}">
                <a16:creationId xmlns:a16="http://schemas.microsoft.com/office/drawing/2014/main" id="{FE1C9CF4-9A4C-4BFB-A746-5DFE4035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</p:sp>
      <p:sp>
        <p:nvSpPr>
          <p:cNvPr id="3" name="header-dot">
            <a:extLst xmlns:a="http://schemas.openxmlformats.org/drawingml/2006/main">
              <a:ext uri="{FF2B5EF4-FFF2-40B4-BE49-F238E27FC236}">
                <a16:creationId xmlns:a16="http://schemas.microsoft.com/office/drawing/2014/main" id="{F78719D8-4702-48D6-8803-C760D646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part">
            <a:extLst xmlns:a="http://schemas.openxmlformats.org/drawingml/2006/main">
              <a:ext uri="{FF2B5EF4-FFF2-40B4-BE49-F238E27FC236}">
                <a16:creationId xmlns:a16="http://schemas.microsoft.com/office/drawing/2014/main" id="{438037E0-2326-46ED-8B72-F53F51FF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Part3：担当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E73AAF6-5F7F-4954-861D-8672E621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19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—— 在集体中持续承担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2192d8e1e435f"/>
          <a:stretch xmlns:a="http://schemas.openxmlformats.org/drawingml/2006/main"/>
        </p:blipFill>
        <p:spPr>
          <a:xfrm xmlns:a="http://schemas.openxmlformats.org/drawingml/2006/main">
            <a:off x="11068050" y="8572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7" name="service-label">
            <a:extLst xmlns:a="http://schemas.openxmlformats.org/drawingml/2006/main">
              <a:ext uri="{FF2B5EF4-FFF2-40B4-BE49-F238E27FC236}">
                <a16:creationId xmlns:a16="http://schemas.microsoft.com/office/drawing/2014/main" id="{54608A7F-B9B6-4758-B5FF-F25DE062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475297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本科四年连续担任团支部书记</a:t>
            </a:r>
          </a:p>
        </p:txBody>
      </p:sp>
      <p:sp>
        <p:nvSpPr>
          <p:cNvPr id="8" name="service-period">
            <a:extLst xmlns:a="http://schemas.openxmlformats.org/drawingml/2006/main">
              <a:ext uri="{FF2B5EF4-FFF2-40B4-BE49-F238E27FC236}">
                <a16:creationId xmlns:a16="http://schemas.microsoft.com/office/drawing/2014/main" id="{0A7135F1-54FF-4673-B52D-FAA5EF28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478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上一学年继续履职</a:t>
            </a:r>
          </a:p>
        </p:txBody>
      </p:sp>
      <p:sp>
        <p:nvSpPr>
          <p:cNvPr id="9" name="service-class">
            <a:extLst xmlns:a="http://schemas.openxmlformats.org/drawingml/2006/main">
              <a:ext uri="{FF2B5EF4-FFF2-40B4-BE49-F238E27FC236}">
                <a16:creationId xmlns:a16="http://schemas.microsoft.com/office/drawing/2014/main" id="{E6739683-C0F6-497A-AE26-FD067FBA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4312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带领班级连续第二年获</a:t>
            </a:r>
          </a:p>
        </p:txBody>
      </p:sp>
      <p:sp>
        <p:nvSpPr>
          <p:cNvPr id="10" name="class-honor">
            <a:extLst xmlns:a="http://schemas.openxmlformats.org/drawingml/2006/main">
              <a:ext uri="{FF2B5EF4-FFF2-40B4-BE49-F238E27FC236}">
                <a16:creationId xmlns:a16="http://schemas.microsoft.com/office/drawing/2014/main" id="{468D1E3C-02FB-4381-B32B-AC60ECCD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81275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统计学院示范班集体</a:t>
            </a:r>
          </a:p>
        </p:txBody>
      </p:sp>
      <p:sp>
        <p:nvSpPr>
          <p:cNvPr id="11" name="class-rank">
            <a:extLst xmlns:a="http://schemas.openxmlformats.org/drawingml/2006/main">
              <a:ext uri="{FF2B5EF4-FFF2-40B4-BE49-F238E27FC236}">
                <a16:creationId xmlns:a16="http://schemas.microsoft.com/office/drawing/2014/main" id="{D357E122-DA77-412C-B0BC-9858C745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5150"/>
            <a:ext cx="615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全院评比第 4</a:t>
            </a:r>
          </a:p>
        </p:txBody>
      </p:sp>
      <p:sp>
        <p:nvSpPr>
          <p:cNvPr id="12" name="four-years">
            <a:extLst xmlns:a="http://schemas.openxmlformats.org/drawingml/2006/main">
              <a:ext uri="{FF2B5EF4-FFF2-40B4-BE49-F238E27FC236}">
                <a16:creationId xmlns:a16="http://schemas.microsoft.com/office/drawing/2014/main" id="{F0526AFA-A115-4CDF-82E1-A7373651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000125"/>
            <a:ext cx="29813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4 年</a:t>
            </a:r>
          </a:p>
        </p:txBody>
      </p:sp>
      <p:sp>
        <p:nvSpPr>
          <p:cNvPr id="13" name="continuity">
            <a:extLst xmlns:a="http://schemas.openxmlformats.org/drawingml/2006/main">
              <a:ext uri="{FF2B5EF4-FFF2-40B4-BE49-F238E27FC236}">
                <a16:creationId xmlns:a16="http://schemas.microsoft.com/office/drawing/2014/main" id="{1CA046EA-8A35-4195-B83E-A9680A16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47875"/>
            <a:ext cx="398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连续担任团支部书记</a:t>
            </a:r>
          </a:p>
        </p:txBody>
      </p:sp>
      <p:sp>
        <p:nvSpPr>
          <p:cNvPr id="14" name="timeline">
            <a:extLst xmlns:a="http://schemas.openxmlformats.org/drawingml/2006/main">
              <a:ext uri="{FF2B5EF4-FFF2-40B4-BE49-F238E27FC236}">
                <a16:creationId xmlns:a16="http://schemas.microsoft.com/office/drawing/2014/main" id="{261F9074-7EBD-44DE-B1C7-1ABE4651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05100"/>
            <a:ext cx="4095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大一　　大二　　大三　　大四</a:t>
            </a:r>
          </a:p>
        </p:txBody>
      </p:sp>
      <p:sp>
        <p:nvSpPr>
          <p:cNvPr id="15" name="gold-divider">
            <a:extLst xmlns:a="http://schemas.openxmlformats.org/drawingml/2006/main">
              <a:ext uri="{FF2B5EF4-FFF2-40B4-BE49-F238E27FC236}">
                <a16:creationId xmlns:a16="http://schemas.microsoft.com/office/drawing/2014/main" id="{4CAF4642-A4C2-4559-A376-2A0DDFF3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609850"/>
            <a:ext cx="3686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15B"/>
            </a:solidFill>
            <a:prstDash val="dash"/>
          </a:ln>
        </p:spPr>
      </p:sp>
      <p:sp>
        <p:nvSpPr>
          <p:cNvPr id="16" name="gold-divider">
            <a:extLst xmlns:a="http://schemas.openxmlformats.org/drawingml/2006/main">
              <a:ext uri="{FF2B5EF4-FFF2-40B4-BE49-F238E27FC236}">
                <a16:creationId xmlns:a16="http://schemas.microsoft.com/office/drawing/2014/main" id="{7BB681C0-DF0B-4A84-805C-1D2860EA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15B"/>
            </a:solidFill>
            <a:prstDash val="dash"/>
          </a:ln>
        </p:spPr>
      </p:sp>
      <p:sp>
        <p:nvSpPr>
          <p:cNvPr id="17" name="party-label">
            <a:extLst xmlns:a="http://schemas.openxmlformats.org/drawingml/2006/main">
              <a:ext uri="{FF2B5EF4-FFF2-40B4-BE49-F238E27FC236}">
                <a16:creationId xmlns:a16="http://schemas.microsoft.com/office/drawing/2014/main" id="{103989E3-3C5D-4636-A0C0-A9EEEF5C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1543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党团工作</a:t>
            </a:r>
          </a:p>
        </p:txBody>
      </p:sp>
      <p:sp>
        <p:nvSpPr>
          <p:cNvPr id="18" name="party-previous">
            <a:extLst xmlns:a="http://schemas.openxmlformats.org/drawingml/2006/main">
              <a:ext uri="{FF2B5EF4-FFF2-40B4-BE49-F238E27FC236}">
                <a16:creationId xmlns:a16="http://schemas.microsoft.com/office/drawing/2014/main" id="{E1B46BD9-75D1-4847-8DF3-FF539CB2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91050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统计学院本科生第一党支部</a:t>
            </a:r>
          </a:p>
        </p:txBody>
      </p:sp>
      <p:sp>
        <p:nvSpPr>
          <p:cNvPr id="19" name="party-role">
            <a:extLst xmlns:a="http://schemas.openxmlformats.org/drawingml/2006/main">
              <a:ext uri="{FF2B5EF4-FFF2-40B4-BE49-F238E27FC236}">
                <a16:creationId xmlns:a16="http://schemas.microsoft.com/office/drawing/2014/main" id="{B5AF446A-5E72-479E-B1C0-868638D4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纪检委员</a:t>
            </a:r>
          </a:p>
        </p:txBody>
      </p:sp>
      <p:sp>
        <p:nvSpPr>
          <p:cNvPr id="20" name="party-current">
            <a:extLst xmlns:a="http://schemas.openxmlformats.org/drawingml/2006/main">
              <a:ext uri="{FF2B5EF4-FFF2-40B4-BE49-F238E27FC236}">
                <a16:creationId xmlns:a16="http://schemas.microsoft.com/office/drawing/2014/main" id="{76EC5E9B-4DF9-499C-A12E-5CEA29AD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0225"/>
            <a:ext cx="5057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现在：国发院 2026 级研究生党支部书记</a:t>
            </a:r>
          </a:p>
        </p:txBody>
      </p:sp>
      <p:sp>
        <p:nvSpPr>
          <p:cNvPr id="21" name="honor-label">
            <a:extLst xmlns:a="http://schemas.openxmlformats.org/drawingml/2006/main">
              <a:ext uri="{FF2B5EF4-FFF2-40B4-BE49-F238E27FC236}">
                <a16:creationId xmlns:a16="http://schemas.microsoft.com/office/drawing/2014/main" id="{88B567E8-9AB0-4ABD-BB1E-3E5877BC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19550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综合荣誉</a:t>
            </a:r>
          </a:p>
        </p:txBody>
      </p:sp>
      <p:sp>
        <p:nvSpPr>
          <p:cNvPr id="22" name="annual-honors">
            <a:extLst xmlns:a="http://schemas.openxmlformats.org/drawingml/2006/main">
              <a:ext uri="{FF2B5EF4-FFF2-40B4-BE49-F238E27FC236}">
                <a16:creationId xmlns:a16="http://schemas.microsoft.com/office/drawing/2014/main" id="{56C01700-E193-4113-9D77-BB2182F3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505325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上一学年：三好学生、优秀共青团员</a:t>
            </a:r>
          </a:p>
        </p:txBody>
      </p:sp>
      <p:sp>
        <p:nvSpPr>
          <p:cNvPr id="23" name="honor-university">
            <a:extLst xmlns:a="http://schemas.openxmlformats.org/drawingml/2006/main">
              <a:ext uri="{FF2B5EF4-FFF2-40B4-BE49-F238E27FC236}">
                <a16:creationId xmlns:a16="http://schemas.microsoft.com/office/drawing/2014/main" id="{4BE7E0B0-464D-4850-9BA1-213F804D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673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中国人民大学</a:t>
            </a:r>
          </a:p>
        </p:txBody>
      </p:sp>
      <p:sp>
        <p:nvSpPr>
          <p:cNvPr id="24" name="graduate-honor">
            <a:extLst xmlns:a="http://schemas.openxmlformats.org/drawingml/2006/main">
              <a:ext uri="{FF2B5EF4-FFF2-40B4-BE49-F238E27FC236}">
                <a16:creationId xmlns:a16="http://schemas.microsoft.com/office/drawing/2014/main" id="{F06E4A4A-1EB2-48E7-AB53-9CE5EF89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400675"/>
            <a:ext cx="52482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优秀毕业生</a:t>
            </a:r>
          </a:p>
        </p:txBody>
      </p:sp>
      <p:sp>
        <p:nvSpPr>
          <p:cNvPr id="25" name="closing">
            <a:extLst xmlns:a="http://schemas.openxmlformats.org/drawingml/2006/main">
              <a:ext uri="{FF2B5EF4-FFF2-40B4-BE49-F238E27FC236}">
                <a16:creationId xmlns:a16="http://schemas.microsoft.com/office/drawing/2014/main" id="{4665089A-1FCB-4B7C-A018-29B07231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从中国现实问题出发，在规范的经济学训练中持续研究制度、发展与公平。</a:t>
            </a:r>
          </a:p>
        </p:txBody>
      </p:sp>
    </p:spTree>
    <p:extLst>
      <p:ext uri="{BB962C8B-B14F-4D97-AF65-F5344CB8AC3E}">
        <p14:creationId xmlns:p14="http://schemas.microsoft.com/office/powerpoint/2010/main" val="503188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2026-09-21T03:53:39.9820000Z</dcterms:created>
  <dcterms:modified xsi:type="dcterms:W3CDTF">2026-09-21T03:53:39.9820000Z</dcterms:modified>
</coreProperties>
</file>
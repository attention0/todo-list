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1d5f84bacf493f" /><Relationship Type="http://schemas.openxmlformats.org/officeDocument/2006/relationships/extended-properties" Target="/docProps/app.xml" Id="R07cbf04548304391" /><Relationship Type="http://schemas.openxmlformats.org/officeDocument/2006/relationships/officeDocument" Target="/ppt/presentation.xml" Id="R7d60ed0f413941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efa285620b412b"/>
  </p:sldMasterIdLst>
  <p:notesMasterIdLst>
    <p:notesMasterId xmlns:r="http://schemas.openxmlformats.org/officeDocument/2006/relationships" r:id="R2550221316e04c17"/>
  </p:notesMasterIdLst>
  <p:sldIdLst>
    <p:sldId xmlns:r="http://schemas.openxmlformats.org/officeDocument/2006/relationships" id="256" r:id="R28c8a54ccaec496f"/>
    <p:sldId xmlns:r="http://schemas.openxmlformats.org/officeDocument/2006/relationships" id="257" r:id="Recdf2aa7cca242b4"/>
    <p:sldId xmlns:r="http://schemas.openxmlformats.org/officeDocument/2006/relationships" id="258" r:id="R43311786d09b44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17c1290794a87" /><Relationship Type="http://schemas.openxmlformats.org/officeDocument/2006/relationships/slideMaster" Target="/ppt/slideMasters/slideMaster1.xml" Id="Rcbefa285620b412b" /><Relationship Type="http://schemas.openxmlformats.org/officeDocument/2006/relationships/notesMaster" Target="/ppt/notesMasters/notesMaster1.xml" Id="R2550221316e04c17" /><Relationship Type="http://schemas.openxmlformats.org/officeDocument/2006/relationships/presProps" Target="/ppt/presProps.xml" Id="R44a4f87ea17f4bed" /><Relationship Type="http://schemas.openxmlformats.org/officeDocument/2006/relationships/tableStyles" Target="/ppt/tableStyles.xml" Id="R6bdfd221fd1a4abb" /><Relationship Type="http://schemas.openxmlformats.org/officeDocument/2006/relationships/slide" Target="/ppt/slides/slide1.xml" Id="R28c8a54ccaec496f" /><Relationship Type="http://schemas.openxmlformats.org/officeDocument/2006/relationships/slide" Target="/ppt/slides/slide2.xml" Id="Recdf2aa7cca242b4" /><Relationship Type="http://schemas.openxmlformats.org/officeDocument/2006/relationships/slide" Target="/ppt/slides/slide3.xml" Id="R43311786d09b44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3a789ee63e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ca124313ef469b" /><Relationship Type="http://schemas.openxmlformats.org/officeDocument/2006/relationships/notesMaster" Target="/ppt/notesMasters/notesMaster1.xml" Id="R74ca7bc40c4a43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e7f8571e4f477e" /><Relationship Type="http://schemas.openxmlformats.org/officeDocument/2006/relationships/notesMaster" Target="/ppt/notesMasters/notesMaster1.xml" Id="R3931d5ce03124d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a3c5abc4a24b60" /><Relationship Type="http://schemas.openxmlformats.org/officeDocument/2006/relationships/notesMaster" Target="/ppt/notesMasters/notesMaster1.xml" Id="R5eaaec3e74a94d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本科专业排名第一，并在国发院博士选拔中取得夏令营笔试第一，获评优秀营员，目前是西方经济学直博一年级学生。本科在人大统计学院的训练，为我打下了数量分析基础。过去一年，我经校内选拔赴港大商学院交换，全校仅四人，并获得冯氏交换奖学金。我在核心课程中取得A，也旁听了劳动经济学博士课程。这段经历，让我进一步拓展经济学训练，开始从学习知识转向提出研究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内容来源：Attention0/todo-list，国奖答辩/SPEC.md（a9a56283）。官方校徽：https://www.pku.edu.cn/Uploads/Picture/2019/12/26/s5e04147ee4a83.png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最持续关注的是社会公平正义。两项工作共同关注制度如何影响公平结果：制度安排，怎样转化为个体层面的机会与结果差异？第一项工作聚焦司法公平。我基于一百多万份企业经济纠纷裁判文书，研究司法裁判歧视如何被量化和识别，使用文本分析、聚类与实证识别方法。这项主修毕业论文获得九十二分，答辩评价优秀。第二项工作聚焦空间公平。我基于百万级平台二手房交易数据，通过行政边界附近的断点回归，研究行政边界造成的空间不平等。相关成果经修改后已投稿《Nature Cities》。这两项工作使我逐步形成一个共同的研究关切：从具体制度与边界出发，观察机会和资源配置，并研究公平结果。下一阶段，我希望在博士训练中继续深化这一问题。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内容来源：Attention0/todo-list，国奖答辩/SPEC.md（a9a56283）。官方校徽：https://www.pku.edu.cn/Uploads/Picture/2019/12/26/s5e04147ee4a83.png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术之外，我本科四年连续担任团支部书记。上一学年，我继续履职，带领班级连续第二年获得统计学院示范班集体，全院评比第四。我也担任本科生第一党支部纪检委员，并在毕业时获评人大优秀毕业生。对我而言，集体工作意味着持续承担具体责任。进入国发院后，我现任二〇二六级研究生党支部书记，继续为同学和集体服务。未来，我希望从中国现实问题出发，在规范的经济学训练中持续研究制度、发展与公平。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内容来源：Attention0/todo-list，国奖答辩/SPEC.md（a9a56283）。官方校徽：https://www.pku.edu.cn/Uploads/Picture/2019/12/26/s5e04147ee4a83.png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543b1932d40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0f91454ecb4912" /><Relationship Type="http://schemas.openxmlformats.org/officeDocument/2006/relationships/slideLayout" Target="/ppt/slideLayouts/slideLayout1.xml" Id="Raa842ba168b748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842ba168b748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bc42bd1ca4fd6" /><Relationship Type="http://schemas.openxmlformats.org/officeDocument/2006/relationships/image" Target="/ppt/media/image.png" Id="R7dd32979f705431a" /><Relationship Type="http://schemas.openxmlformats.org/officeDocument/2006/relationships/notesSlide" Target="/ppt/notesSlides/notesSlide1.xml" Id="Rd0b53bb14a6b48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7567518504679" /><Relationship Type="http://schemas.openxmlformats.org/officeDocument/2006/relationships/image" Target="/ppt/media/image2.png" Id="R54207bdd12194083" /><Relationship Type="http://schemas.openxmlformats.org/officeDocument/2006/relationships/notesSlide" Target="/ppt/notesSlides/notesSlide2.xml" Id="R9fda836c74fb40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7aebd47a44812" /><Relationship Type="http://schemas.openxmlformats.org/officeDocument/2006/relationships/image" Target="/ppt/media/image3.png" Id="R602dee821d074b28" /><Relationship Type="http://schemas.openxmlformats.org/officeDocument/2006/relationships/notesSlide" Target="/ppt/notesSlides/notesSlide3.xml" Id="Rc11f5bff81fb4e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red-header">
            <a:extLst xmlns:a="http://schemas.openxmlformats.org/drawingml/2006/main">
              <a:ext uri="{FF2B5EF4-FFF2-40B4-BE49-F238E27FC236}">
                <a16:creationId xmlns:a16="http://schemas.microsoft.com/office/drawing/2014/main" id="{7031FD6B-6C13-43DC-A88D-BB684053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2" name="red-footer">
            <a:extLst xmlns:a="http://schemas.openxmlformats.org/drawingml/2006/main">
              <a:ext uri="{FF2B5EF4-FFF2-40B4-BE49-F238E27FC236}">
                <a16:creationId xmlns:a16="http://schemas.microsoft.com/office/drawing/2014/main" id="{25ED0FAD-42C4-4075-AC11-98DEC545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FEF1EB9A-7FC3-4492-9C1D-7220AAB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part">
            <a:extLst xmlns:a="http://schemas.openxmlformats.org/drawingml/2006/main">
              <a:ext uri="{FF2B5EF4-FFF2-40B4-BE49-F238E27FC236}">
                <a16:creationId xmlns:a16="http://schemas.microsoft.com/office/drawing/2014/main" id="{2E49E8C6-1AC7-4890-A34F-F8E73A0F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Part1：扎根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1C31C59-78DE-4EFC-8F40-DC4AA424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从专业第一到国发直博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32979f705431a"/>
          <a:stretch xmlns:a="http://schemas.openxmlformats.org/drawingml/2006/main"/>
        </p:blipFill>
        <p:spPr>
          <a:xfrm xmlns:a="http://schemas.openxmlformats.org/drawingml/2006/main">
            <a:off x="11068050" y="857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7" name="rank-label">
            <a:extLst xmlns:a="http://schemas.openxmlformats.org/drawingml/2006/main">
              <a:ext uri="{FF2B5EF4-FFF2-40B4-BE49-F238E27FC236}">
                <a16:creationId xmlns:a16="http://schemas.microsoft.com/office/drawing/2014/main" id="{0CDA2FF5-CC98-460C-B643-700C08CB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0125"/>
            <a:ext cx="1790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本科专业排名</a:t>
            </a:r>
          </a:p>
        </p:txBody>
      </p:sp>
      <p:sp>
        <p:nvSpPr>
          <p:cNvPr id="8" name="exam-label">
            <a:extLst xmlns:a="http://schemas.openxmlformats.org/drawingml/2006/main">
              <a:ext uri="{FF2B5EF4-FFF2-40B4-BE49-F238E27FC236}">
                <a16:creationId xmlns:a16="http://schemas.microsoft.com/office/drawing/2014/main" id="{ADD138EB-A564-4484-BE3F-EB315BAC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000125"/>
            <a:ext cx="2000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国发博士选拔</a:t>
            </a:r>
          </a:p>
        </p:txBody>
      </p:sp>
      <p:sp>
        <p:nvSpPr>
          <p:cNvPr id="9" name="rank-value-border">
            <a:extLst xmlns:a="http://schemas.openxmlformats.org/drawingml/2006/main">
              <a:ext uri="{FF2B5EF4-FFF2-40B4-BE49-F238E27FC236}">
                <a16:creationId xmlns:a16="http://schemas.microsoft.com/office/drawing/2014/main" id="{B1260B07-AD38-4814-9AD4-3F7FFA44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33525"/>
            <a:ext cx="3067050" cy="9429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0012"/>
            </a:solidFill>
          </a:ln>
        </p:spPr>
      </p:sp>
      <p:sp>
        <p:nvSpPr>
          <p:cNvPr id="10" name="exam-value-border">
            <a:extLst xmlns:a="http://schemas.openxmlformats.org/drawingml/2006/main">
              <a:ext uri="{FF2B5EF4-FFF2-40B4-BE49-F238E27FC236}">
                <a16:creationId xmlns:a16="http://schemas.microsoft.com/office/drawing/2014/main" id="{0ABCD30A-208C-4DEE-B363-616CBB2D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33525"/>
            <a:ext cx="3333750" cy="9429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F0012"/>
            </a:solidFill>
          </a:ln>
        </p:spPr>
      </p:sp>
      <p:sp>
        <p:nvSpPr>
          <p:cNvPr id="11" name="rank-value">
            <a:extLst xmlns:a="http://schemas.openxmlformats.org/drawingml/2006/main">
              <a:ext uri="{FF2B5EF4-FFF2-40B4-BE49-F238E27FC236}">
                <a16:creationId xmlns:a16="http://schemas.microsoft.com/office/drawing/2014/main" id="{2CFAE2C9-F27A-46C2-BC15-3B9BB417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276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第 1</a:t>
            </a:r>
          </a:p>
        </p:txBody>
      </p:sp>
      <p:sp>
        <p:nvSpPr>
          <p:cNvPr id="12" name="rank-denominator">
            <a:extLst xmlns:a="http://schemas.openxmlformats.org/drawingml/2006/main">
              <a:ext uri="{FF2B5EF4-FFF2-40B4-BE49-F238E27FC236}">
                <a16:creationId xmlns:a16="http://schemas.microsoft.com/office/drawing/2014/main" id="{9EC2A860-A6EB-4DB7-A578-510A7963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1104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1/28</a:t>
            </a:r>
          </a:p>
        </p:txBody>
      </p:sp>
      <p:sp>
        <p:nvSpPr>
          <p:cNvPr id="13" name="exam-value">
            <a:extLst xmlns:a="http://schemas.openxmlformats.org/drawingml/2006/main">
              <a:ext uri="{FF2B5EF4-FFF2-40B4-BE49-F238E27FC236}">
                <a16:creationId xmlns:a16="http://schemas.microsoft.com/office/drawing/2014/main" id="{CCD4ECEF-7CCE-4812-9E78-2E5177DB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811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笔试第 1</a:t>
            </a:r>
          </a:p>
        </p:txBody>
      </p:sp>
      <p:sp>
        <p:nvSpPr>
          <p:cNvPr id="14" name="undergrad">
            <a:extLst xmlns:a="http://schemas.openxmlformats.org/drawingml/2006/main">
              <a:ext uri="{FF2B5EF4-FFF2-40B4-BE49-F238E27FC236}">
                <a16:creationId xmlns:a16="http://schemas.microsoft.com/office/drawing/2014/main" id="{0D9F54B2-A92F-41B3-9AB8-89FC0C2D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中国人民大学统计学院 · 经济统计学</a:t>
            </a:r>
          </a:p>
        </p:txBody>
      </p:sp>
      <p:sp>
        <p:nvSpPr>
          <p:cNvPr id="15" name="gpa">
            <a:extLst xmlns:a="http://schemas.openxmlformats.org/drawingml/2006/main">
              <a:ext uri="{FF2B5EF4-FFF2-40B4-BE49-F238E27FC236}">
                <a16:creationId xmlns:a16="http://schemas.microsoft.com/office/drawing/2014/main" id="{A55F6109-F59F-45F9-8EEA-90E87C19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62275"/>
            <a:ext cx="319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GPA 3.87/4.00</a:t>
            </a:r>
          </a:p>
        </p:txBody>
      </p:sp>
      <p:sp>
        <p:nvSpPr>
          <p:cNvPr id="16" name="camp">
            <a:extLst xmlns:a="http://schemas.openxmlformats.org/drawingml/2006/main">
              <a:ext uri="{FF2B5EF4-FFF2-40B4-BE49-F238E27FC236}">
                <a16:creationId xmlns:a16="http://schemas.microsoft.com/office/drawing/2014/main" id="{E03A7295-5E13-412D-B02C-04D373AC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夏令营优秀营员</a:t>
            </a:r>
          </a:p>
        </p:txBody>
      </p:sp>
      <p:sp>
        <p:nvSpPr>
          <p:cNvPr id="17" name="current">
            <a:extLst xmlns:a="http://schemas.openxmlformats.org/drawingml/2006/main">
              <a:ext uri="{FF2B5EF4-FFF2-40B4-BE49-F238E27FC236}">
                <a16:creationId xmlns:a16="http://schemas.microsoft.com/office/drawing/2014/main" id="{42D1A7A9-2E83-4F4F-98B1-2359EF9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6227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现为西方经济学直博一年级</a:t>
            </a:r>
          </a:p>
        </p:txBody>
      </p:sp>
      <p:sp>
        <p:nvSpPr>
          <p:cNvPr id="18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42E1FA97-11F5-4032-96C2-B8671DEC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00450"/>
            <a:ext cx="6943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19" name="path-abbreviation-0">
            <a:extLst xmlns:a="http://schemas.openxmlformats.org/drawingml/2006/main">
              <a:ext uri="{FF2B5EF4-FFF2-40B4-BE49-F238E27FC236}">
                <a16:creationId xmlns:a16="http://schemas.microsoft.com/office/drawing/2014/main" id="{C3EA2465-B11D-467A-99FF-8C33EA64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766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RUC</a:t>
            </a:r>
          </a:p>
        </p:txBody>
      </p:sp>
      <p:sp>
        <p:nvSpPr>
          <p:cNvPr id="20" name="path-school-0">
            <a:extLst xmlns:a="http://schemas.openxmlformats.org/drawingml/2006/main">
              <a:ext uri="{FF2B5EF4-FFF2-40B4-BE49-F238E27FC236}">
                <a16:creationId xmlns:a16="http://schemas.microsoft.com/office/drawing/2014/main" id="{5085658F-FC4F-4399-90C3-D53B0719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中国人民大学</a:t>
            </a:r>
          </a:p>
        </p:txBody>
      </p:sp>
      <p:sp>
        <p:nvSpPr>
          <p:cNvPr id="21" name="path-caption-0">
            <a:extLst xmlns:a="http://schemas.openxmlformats.org/drawingml/2006/main">
              <a:ext uri="{FF2B5EF4-FFF2-40B4-BE49-F238E27FC236}">
                <a16:creationId xmlns:a16="http://schemas.microsoft.com/office/drawing/2014/main" id="{E3AB5999-6ACD-4C61-910E-B68E617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专业第一</a:t>
            </a:r>
          </a:p>
        </p:txBody>
      </p:sp>
      <p:sp>
        <p:nvSpPr>
          <p:cNvPr id="22" name="path-arrow-0">
            <a:extLst xmlns:a="http://schemas.openxmlformats.org/drawingml/2006/main">
              <a:ext uri="{FF2B5EF4-FFF2-40B4-BE49-F238E27FC236}">
                <a16:creationId xmlns:a16="http://schemas.microsoft.com/office/drawing/2014/main" id="{8A9EE5E9-324A-4F8E-BAD3-51EB20BA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67175"/>
            <a:ext cx="447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path-abbreviation-1">
            <a:extLst xmlns:a="http://schemas.openxmlformats.org/drawingml/2006/main">
              <a:ext uri="{FF2B5EF4-FFF2-40B4-BE49-F238E27FC236}">
                <a16:creationId xmlns:a16="http://schemas.microsoft.com/office/drawing/2014/main" id="{492DE52D-4998-4DB3-9A39-46E644F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766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HKU</a:t>
            </a:r>
          </a:p>
        </p:txBody>
      </p:sp>
      <p:sp>
        <p:nvSpPr>
          <p:cNvPr id="24" name="path-school-1">
            <a:extLst xmlns:a="http://schemas.openxmlformats.org/drawingml/2006/main">
              <a:ext uri="{FF2B5EF4-FFF2-40B4-BE49-F238E27FC236}">
                <a16:creationId xmlns:a16="http://schemas.microsoft.com/office/drawing/2014/main" id="{6887B964-21B4-44C0-8C67-D03360DD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38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香港大学</a:t>
            </a:r>
          </a:p>
        </p:txBody>
      </p:sp>
      <p:sp>
        <p:nvSpPr>
          <p:cNvPr id="25" name="path-caption-1">
            <a:extLst xmlns:a="http://schemas.openxmlformats.org/drawingml/2006/main">
              <a:ext uri="{FF2B5EF4-FFF2-40B4-BE49-F238E27FC236}">
                <a16:creationId xmlns:a16="http://schemas.microsoft.com/office/drawing/2014/main" id="{C6921F77-EC05-42C3-96F2-9EF040F3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9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竞争性交换</a:t>
            </a:r>
          </a:p>
        </p:txBody>
      </p:sp>
      <p:sp>
        <p:nvSpPr>
          <p:cNvPr id="26" name="path-arrow-1">
            <a:extLst xmlns:a="http://schemas.openxmlformats.org/drawingml/2006/main">
              <a:ext uri="{FF2B5EF4-FFF2-40B4-BE49-F238E27FC236}">
                <a16:creationId xmlns:a16="http://schemas.microsoft.com/office/drawing/2014/main" id="{407E3E74-3F84-4EB9-BEAF-E4FBED3B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67175"/>
            <a:ext cx="447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path-abbreviation-2">
            <a:extLst xmlns:a="http://schemas.openxmlformats.org/drawingml/2006/main">
              <a:ext uri="{FF2B5EF4-FFF2-40B4-BE49-F238E27FC236}">
                <a16:creationId xmlns:a16="http://schemas.microsoft.com/office/drawing/2014/main" id="{428F4F5A-07CF-4D6B-921A-D7B3242F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766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PKU</a:t>
            </a:r>
          </a:p>
        </p:txBody>
      </p:sp>
      <p:sp>
        <p:nvSpPr>
          <p:cNvPr id="28" name="path-school-2">
            <a:extLst xmlns:a="http://schemas.openxmlformats.org/drawingml/2006/main">
              <a:ext uri="{FF2B5EF4-FFF2-40B4-BE49-F238E27FC236}">
                <a16:creationId xmlns:a16="http://schemas.microsoft.com/office/drawing/2014/main" id="{B4778DEE-2AE2-46A5-A86B-D324ABB4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38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北京大学国发院</a:t>
            </a:r>
          </a:p>
        </p:txBody>
      </p:sp>
      <p:sp>
        <p:nvSpPr>
          <p:cNvPr id="29" name="path-caption-2">
            <a:extLst xmlns:a="http://schemas.openxmlformats.org/drawingml/2006/main">
              <a:ext uri="{FF2B5EF4-FFF2-40B4-BE49-F238E27FC236}">
                <a16:creationId xmlns:a16="http://schemas.microsoft.com/office/drawing/2014/main" id="{4876849A-8948-4062-A1DE-C190D6B1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9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西方经济学直博</a:t>
            </a:r>
          </a:p>
        </p:txBody>
      </p:sp>
      <p:sp>
        <p:nvSpPr>
          <p:cNvPr id="30" name="takeaway">
            <a:extLst xmlns:a="http://schemas.openxmlformats.org/drawingml/2006/main">
              <a:ext uri="{FF2B5EF4-FFF2-40B4-BE49-F238E27FC236}">
                <a16:creationId xmlns:a16="http://schemas.microsoft.com/office/drawing/2014/main" id="{0F7FCF45-F5A5-4B87-95B5-D054A902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81675"/>
            <a:ext cx="704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以扎实训练完成从本科生向经济学研究者的过渡。</a:t>
            </a:r>
          </a:p>
        </p:txBody>
      </p:sp>
      <p:sp>
        <p:nvSpPr>
          <p:cNvPr id="31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61662D47-FC4B-40E8-B296-A7E78082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47750"/>
            <a:ext cx="0" cy="5248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32" name="exchange-background">
            <a:extLst xmlns:a="http://schemas.openxmlformats.org/drawingml/2006/main">
              <a:ext uri="{FF2B5EF4-FFF2-40B4-BE49-F238E27FC236}">
                <a16:creationId xmlns:a16="http://schemas.microsoft.com/office/drawing/2014/main" id="{BD66AB6C-9283-44C7-9A0B-D0C5941F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981075"/>
            <a:ext cx="3619500" cy="532447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8F6F3"/>
          </a:solidFill>
          <a:ln xmlns:a="http://schemas.openxmlformats.org/drawingml/2006/main" w="0">
            <a:noFill/>
          </a:ln>
        </p:spPr>
      </p:sp>
      <p:sp>
        <p:nvSpPr>
          <p:cNvPr id="33" name="exchange-label">
            <a:extLst xmlns:a="http://schemas.openxmlformats.org/drawingml/2006/main">
              <a:ext uri="{FF2B5EF4-FFF2-40B4-BE49-F238E27FC236}">
                <a16:creationId xmlns:a16="http://schemas.microsoft.com/office/drawing/2014/main" id="{9E5D5C5B-21FA-4FBF-9303-053618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152525"/>
            <a:ext cx="1952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HKU Exchange</a:t>
            </a:r>
          </a:p>
        </p:txBody>
      </p:sp>
      <p:sp>
        <p:nvSpPr>
          <p:cNvPr id="34" name="exchange-date">
            <a:extLst xmlns:a="http://schemas.openxmlformats.org/drawingml/2006/main">
              <a:ext uri="{FF2B5EF4-FFF2-40B4-BE49-F238E27FC236}">
                <a16:creationId xmlns:a16="http://schemas.microsoft.com/office/drawing/2014/main" id="{4467DF7A-4E48-49A9-83A1-4B9DD6E5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2025 年秋季 · 香港大学商学院</a:t>
            </a:r>
          </a:p>
        </p:txBody>
      </p:sp>
      <p:sp>
        <p:nvSpPr>
          <p:cNvPr id="35" name="exchange-selection">
            <a:extLst xmlns:a="http://schemas.openxmlformats.org/drawingml/2006/main">
              <a:ext uri="{FF2B5EF4-FFF2-40B4-BE49-F238E27FC236}">
                <a16:creationId xmlns:a16="http://schemas.microsoft.com/office/drawing/2014/main" id="{AA28BC43-4255-4D38-8C53-59F0A0E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4 人</a:t>
            </a:r>
          </a:p>
        </p:txBody>
      </p:sp>
      <p:sp>
        <p:nvSpPr>
          <p:cNvPr id="36" name="exchange-school">
            <a:extLst xmlns:a="http://schemas.openxmlformats.org/drawingml/2006/main">
              <a:ext uri="{FF2B5EF4-FFF2-40B4-BE49-F238E27FC236}">
                <a16:creationId xmlns:a16="http://schemas.microsoft.com/office/drawing/2014/main" id="{82579D93-545B-4122-A258-9D699250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90750"/>
            <a:ext cx="1876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全校选拔赴港大交换</a:t>
            </a:r>
          </a:p>
        </p:txBody>
      </p:sp>
      <p:sp>
        <p:nvSpPr>
          <p:cNvPr id="37" name="scholarship-value">
            <a:extLst xmlns:a="http://schemas.openxmlformats.org/drawingml/2006/main">
              <a:ext uri="{FF2B5EF4-FFF2-40B4-BE49-F238E27FC236}">
                <a16:creationId xmlns:a16="http://schemas.microsoft.com/office/drawing/2014/main" id="{0A4FFD80-BA06-4B09-837B-21DDD2E8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95600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HK$16,000</a:t>
            </a:r>
          </a:p>
        </p:txBody>
      </p:sp>
      <p:sp>
        <p:nvSpPr>
          <p:cNvPr id="38" name="scholarship-name">
            <a:extLst xmlns:a="http://schemas.openxmlformats.org/drawingml/2006/main">
              <a:ext uri="{FF2B5EF4-FFF2-40B4-BE49-F238E27FC236}">
                <a16:creationId xmlns:a16="http://schemas.microsoft.com/office/drawing/2014/main" id="{34499FBB-7A83-461B-AD3D-FA1DBD69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95675"/>
            <a:ext cx="3152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冯氏交换奖学金</a:t>
            </a:r>
          </a:p>
        </p:txBody>
      </p:sp>
      <p:sp>
        <p:nvSpPr>
          <p:cNvPr id="39" name="scholarship-scope">
            <a:extLst xmlns:a="http://schemas.openxmlformats.org/drawingml/2006/main">
              <a:ext uri="{FF2B5EF4-FFF2-40B4-BE49-F238E27FC236}">
                <a16:creationId xmlns:a16="http://schemas.microsoft.com/office/drawing/2014/main" id="{0842115A-3B03-417C-9397-10A481C4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290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全校仅 3 人获奖</a:t>
            </a:r>
          </a:p>
        </p:txBody>
      </p:sp>
      <p:sp>
        <p:nvSpPr>
          <p:cNvPr id="40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2C272032-C166-4025-BB01-9FD882CA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148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41" name="course-grade">
            <a:extLst xmlns:a="http://schemas.openxmlformats.org/drawingml/2006/main">
              <a:ext uri="{FF2B5EF4-FFF2-40B4-BE49-F238E27FC236}">
                <a16:creationId xmlns:a16="http://schemas.microsoft.com/office/drawing/2014/main" id="{FD7665BC-CC05-4C50-BA64-AAC5ED41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86275"/>
            <a:ext cx="3133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核心课程 A</a:t>
            </a:r>
          </a:p>
        </p:txBody>
      </p:sp>
      <p:sp>
        <p:nvSpPr>
          <p:cNvPr id="42" name="course-audit">
            <a:extLst xmlns:a="http://schemas.openxmlformats.org/drawingml/2006/main">
              <a:ext uri="{FF2B5EF4-FFF2-40B4-BE49-F238E27FC236}">
                <a16:creationId xmlns:a16="http://schemas.microsoft.com/office/drawing/2014/main" id="{5991BA5F-21DE-45C8-8CD6-8762A71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19675"/>
            <a:ext cx="3152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旁听博士课程</a:t>
            </a:r>
          </a:p>
        </p:txBody>
      </p:sp>
      <p:sp>
        <p:nvSpPr>
          <p:cNvPr id="43" name="course-name">
            <a:extLst xmlns:a="http://schemas.openxmlformats.org/drawingml/2006/main">
              <a:ext uri="{FF2B5EF4-FFF2-40B4-BE49-F238E27FC236}">
                <a16:creationId xmlns:a16="http://schemas.microsoft.com/office/drawing/2014/main" id="{BB8FF655-270D-4358-8951-7D982A78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62575"/>
            <a:ext cx="3152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Advanced Topics in</a:t>
            </a:r>
          </a:p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Labor Economy</a:t>
            </a:r>
          </a:p>
        </p:txBody>
      </p:sp>
    </p:spTree>
    <p:extLst>
      <p:ext uri="{BB962C8B-B14F-4D97-AF65-F5344CB8AC3E}">
        <p14:creationId xmlns:p14="http://schemas.microsoft.com/office/powerpoint/2010/main" val="1591922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d-header">
            <a:extLst xmlns:a="http://schemas.openxmlformats.org/drawingml/2006/main">
              <a:ext uri="{FF2B5EF4-FFF2-40B4-BE49-F238E27FC236}">
                <a16:creationId xmlns:a16="http://schemas.microsoft.com/office/drawing/2014/main" id="{1C683B31-4916-49E9-9E44-4F871F32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2" name="red-footer">
            <a:extLst xmlns:a="http://schemas.openxmlformats.org/drawingml/2006/main">
              <a:ext uri="{FF2B5EF4-FFF2-40B4-BE49-F238E27FC236}">
                <a16:creationId xmlns:a16="http://schemas.microsoft.com/office/drawing/2014/main" id="{787332F0-B48F-4A1B-81B5-06E88A3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EB9E8822-A35E-4C5A-8EA9-C43DEBF6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part">
            <a:extLst xmlns:a="http://schemas.openxmlformats.org/drawingml/2006/main">
              <a:ext uri="{FF2B5EF4-FFF2-40B4-BE49-F238E27FC236}">
                <a16:creationId xmlns:a16="http://schemas.microsoft.com/office/drawing/2014/main" id="{42B14154-A3B8-437E-A8BF-94CCC38D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Part2：求索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E2DF269-AB2F-4BCB-99BE-3C977F4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以问题为锚，研究制度与公平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07bdd12194083"/>
          <a:stretch xmlns:a="http://schemas.openxmlformats.org/drawingml/2006/main"/>
        </p:blipFill>
        <p:spPr>
          <a:xfrm xmlns:a="http://schemas.openxmlformats.org/drawingml/2006/main">
            <a:off x="11068050" y="857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7" name="research-theme">
            <a:extLst xmlns:a="http://schemas.openxmlformats.org/drawingml/2006/main">
              <a:ext uri="{FF2B5EF4-FFF2-40B4-BE49-F238E27FC236}">
                <a16:creationId xmlns:a16="http://schemas.microsoft.com/office/drawing/2014/main" id="{289A41E7-2E9D-4888-A107-6822D46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81075"/>
            <a:ext cx="11239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聚焦社会公平正义</a:t>
            </a:r>
          </a:p>
        </p:txBody>
      </p:sp>
      <p:sp>
        <p:nvSpPr>
          <p:cNvPr id="8" name="research-theme-detail">
            <a:extLst xmlns:a="http://schemas.openxmlformats.org/drawingml/2006/main">
              <a:ext uri="{FF2B5EF4-FFF2-40B4-BE49-F238E27FC236}">
                <a16:creationId xmlns:a16="http://schemas.microsoft.com/office/drawing/2014/main" id="{D960A53E-0910-47C3-9344-1BF16D9F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关注制度安排如何转化为个体层面的机会与结果差异</a:t>
            </a:r>
          </a:p>
        </p:txBody>
      </p:sp>
      <p:sp>
        <p:nvSpPr>
          <p:cNvPr id="9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A7D17864-3944-4419-BDF6-27B0ACE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0" cy="3305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10" name="research-label-0">
            <a:extLst xmlns:a="http://schemas.openxmlformats.org/drawingml/2006/main">
              <a:ext uri="{FF2B5EF4-FFF2-40B4-BE49-F238E27FC236}">
                <a16:creationId xmlns:a16="http://schemas.microsoft.com/office/drawing/2014/main" id="{F73057B8-B993-48BE-880D-76BAF0D8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05025"/>
            <a:ext cx="15335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司法公平</a:t>
            </a:r>
          </a:p>
        </p:txBody>
      </p:sp>
      <p:sp>
        <p:nvSpPr>
          <p:cNvPr id="11" name="data-volume-0">
            <a:extLst xmlns:a="http://schemas.openxmlformats.org/drawingml/2006/main">
              <a:ext uri="{FF2B5EF4-FFF2-40B4-BE49-F238E27FC236}">
                <a16:creationId xmlns:a16="http://schemas.microsoft.com/office/drawing/2014/main" id="{F1C761FB-9107-47AB-96B4-B35DDA6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7475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100万+</a:t>
            </a:r>
          </a:p>
        </p:txBody>
      </p:sp>
      <p:sp>
        <p:nvSpPr>
          <p:cNvPr id="12" name="data-source-0">
            <a:extLst xmlns:a="http://schemas.openxmlformats.org/drawingml/2006/main">
              <a:ext uri="{FF2B5EF4-FFF2-40B4-BE49-F238E27FC236}">
                <a16:creationId xmlns:a16="http://schemas.microsoft.com/office/drawing/2014/main" id="{0E037795-6D8B-49EA-BF4B-59F3AB54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企业经济纠纷裁判文书</a:t>
            </a:r>
          </a:p>
        </p:txBody>
      </p:sp>
      <p:sp>
        <p:nvSpPr>
          <p:cNvPr id="13" name="research-question-0">
            <a:extLst xmlns:a="http://schemas.openxmlformats.org/drawingml/2006/main">
              <a:ext uri="{FF2B5EF4-FFF2-40B4-BE49-F238E27FC236}">
                <a16:creationId xmlns:a16="http://schemas.microsoft.com/office/drawing/2014/main" id="{D4DBBE70-04C8-459A-944A-1AF7802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司法裁判歧视如何被量化与识别？</a:t>
            </a:r>
          </a:p>
        </p:txBody>
      </p:sp>
      <p:sp>
        <p:nvSpPr>
          <p:cNvPr id="14" name="method-0">
            <a:extLst xmlns:a="http://schemas.openxmlformats.org/drawingml/2006/main">
              <a:ext uri="{FF2B5EF4-FFF2-40B4-BE49-F238E27FC236}">
                <a16:creationId xmlns:a16="http://schemas.microsoft.com/office/drawing/2014/main" id="{EB0E911F-921A-4B88-9579-C36D9B28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624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文本分析　 /　 聚类　 /　 实证识别</a:t>
            </a:r>
          </a:p>
        </p:txBody>
      </p:sp>
      <p:sp>
        <p:nvSpPr>
          <p:cNvPr id="15" name="research-label-1">
            <a:extLst xmlns:a="http://schemas.openxmlformats.org/drawingml/2006/main">
              <a:ext uri="{FF2B5EF4-FFF2-40B4-BE49-F238E27FC236}">
                <a16:creationId xmlns:a16="http://schemas.microsoft.com/office/drawing/2014/main" id="{C0A78F47-0B64-4951-B659-8A9DA96B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05025"/>
            <a:ext cx="15335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空间公平</a:t>
            </a:r>
          </a:p>
        </p:txBody>
      </p:sp>
      <p:sp>
        <p:nvSpPr>
          <p:cNvPr id="16" name="data-volume-1">
            <a:extLst xmlns:a="http://schemas.openxmlformats.org/drawingml/2006/main">
              <a:ext uri="{FF2B5EF4-FFF2-40B4-BE49-F238E27FC236}">
                <a16:creationId xmlns:a16="http://schemas.microsoft.com/office/drawing/2014/main" id="{7AFB12D3-F864-4443-90B6-E6FC220F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57475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100万+</a:t>
            </a:r>
          </a:p>
        </p:txBody>
      </p:sp>
      <p:sp>
        <p:nvSpPr>
          <p:cNvPr id="17" name="data-source-1">
            <a:extLst xmlns:a="http://schemas.openxmlformats.org/drawingml/2006/main">
              <a:ext uri="{FF2B5EF4-FFF2-40B4-BE49-F238E27FC236}">
                <a16:creationId xmlns:a16="http://schemas.microsoft.com/office/drawing/2014/main" id="{2CDC85FB-E46E-45FC-BB5E-1AE3197B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平台二手房交易记录</a:t>
            </a:r>
          </a:p>
        </p:txBody>
      </p:sp>
      <p:sp>
        <p:nvSpPr>
          <p:cNvPr id="18" name="research-question-1">
            <a:extLst xmlns:a="http://schemas.openxmlformats.org/drawingml/2006/main">
              <a:ext uri="{FF2B5EF4-FFF2-40B4-BE49-F238E27FC236}">
                <a16:creationId xmlns:a16="http://schemas.microsoft.com/office/drawing/2014/main" id="{82C786CA-7B0E-440C-81B2-FC327952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386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行政边界如何造成空间不平等？</a:t>
            </a:r>
          </a:p>
        </p:txBody>
      </p:sp>
      <p:sp>
        <p:nvSpPr>
          <p:cNvPr id="19" name="method-1">
            <a:extLst xmlns:a="http://schemas.openxmlformats.org/drawingml/2006/main">
              <a:ext uri="{FF2B5EF4-FFF2-40B4-BE49-F238E27FC236}">
                <a16:creationId xmlns:a16="http://schemas.microsoft.com/office/drawing/2014/main" id="{554104C4-7991-4804-9B18-238335F4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624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行政边界　 ×　 断点回归</a:t>
            </a:r>
          </a:p>
        </p:txBody>
      </p:sp>
      <p:sp>
        <p:nvSpPr>
          <p:cNvPr id="20" name="thesis-result">
            <a:extLst xmlns:a="http://schemas.openxmlformats.org/drawingml/2006/main">
              <a:ext uri="{FF2B5EF4-FFF2-40B4-BE49-F238E27FC236}">
                <a16:creationId xmlns:a16="http://schemas.microsoft.com/office/drawing/2014/main" id="{63F99967-A43C-447F-B8F9-1A7CE5A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501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毕业论文：优秀 · 92 分</a:t>
            </a:r>
          </a:p>
        </p:txBody>
      </p:sp>
      <p:sp>
        <p:nvSpPr>
          <p:cNvPr id="21" name="submission-status">
            <a:extLst xmlns:a="http://schemas.openxmlformats.org/drawingml/2006/main">
              <a:ext uri="{FF2B5EF4-FFF2-40B4-BE49-F238E27FC236}">
                <a16:creationId xmlns:a16="http://schemas.microsoft.com/office/drawing/2014/main" id="{58856334-07D4-4049-B15F-40704D57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95875"/>
            <a:ext cx="501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相关成果经修改后投稿</a:t>
            </a:r>
          </a:p>
        </p:txBody>
      </p:sp>
      <p:sp>
        <p:nvSpPr>
          <p:cNvPr id="22" name="journal-name">
            <a:extLst xmlns:a="http://schemas.openxmlformats.org/drawingml/2006/main">
              <a:ext uri="{FF2B5EF4-FFF2-40B4-BE49-F238E27FC236}">
                <a16:creationId xmlns:a16="http://schemas.microsoft.com/office/drawing/2014/main" id="{314B4644-DC0F-4E01-8ED8-6BE96FFA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57825"/>
            <a:ext cx="5019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《Nature Cities》</a:t>
            </a:r>
          </a:p>
        </p:txBody>
      </p:sp>
      <p:sp>
        <p:nvSpPr>
          <p:cNvPr id="23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78989285-2D74-44A3-9BE3-4F88EBD5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67425"/>
            <a:ext cx="1122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24" name="logic-left">
            <a:extLst xmlns:a="http://schemas.openxmlformats.org/drawingml/2006/main">
              <a:ext uri="{FF2B5EF4-FFF2-40B4-BE49-F238E27FC236}">
                <a16:creationId xmlns:a16="http://schemas.microsoft.com/office/drawing/2014/main" id="{F7A9EF2F-0E89-4D39-B242-04FC32E1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3152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制度安排 / 制度边界</a:t>
            </a:r>
          </a:p>
        </p:txBody>
      </p:sp>
      <p:sp>
        <p:nvSpPr>
          <p:cNvPr id="25" name="logic-arrow-1">
            <a:extLst xmlns:a="http://schemas.openxmlformats.org/drawingml/2006/main">
              <a:ext uri="{FF2B5EF4-FFF2-40B4-BE49-F238E27FC236}">
                <a16:creationId xmlns:a16="http://schemas.microsoft.com/office/drawing/2014/main" id="{D13B47A9-50FC-4B1C-A00B-7461B383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219825"/>
            <a:ext cx="457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logic-middle">
            <a:extLst xmlns:a="http://schemas.openxmlformats.org/drawingml/2006/main">
              <a:ext uri="{FF2B5EF4-FFF2-40B4-BE49-F238E27FC236}">
                <a16:creationId xmlns:a16="http://schemas.microsoft.com/office/drawing/2014/main" id="{91B96C84-AED8-4BDB-9BF1-4ABDD615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219825"/>
            <a:ext cx="309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机会与资源配置</a:t>
            </a:r>
          </a:p>
        </p:txBody>
      </p:sp>
      <p:sp>
        <p:nvSpPr>
          <p:cNvPr id="27" name="logic-arrow-2">
            <a:extLst xmlns:a="http://schemas.openxmlformats.org/drawingml/2006/main">
              <a:ext uri="{FF2B5EF4-FFF2-40B4-BE49-F238E27FC236}">
                <a16:creationId xmlns:a16="http://schemas.microsoft.com/office/drawing/2014/main" id="{ACCE69F8-0111-42ED-B4FB-F0A01692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219825"/>
            <a:ext cx="457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6A1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logic-right">
            <a:extLst xmlns:a="http://schemas.openxmlformats.org/drawingml/2006/main">
              <a:ext uri="{FF2B5EF4-FFF2-40B4-BE49-F238E27FC236}">
                <a16:creationId xmlns:a16="http://schemas.microsoft.com/office/drawing/2014/main" id="{3C5A4ABD-0F2A-4043-8CB0-FD37098C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19825"/>
            <a:ext cx="2476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公平结果</a:t>
            </a:r>
          </a:p>
        </p:txBody>
      </p:sp>
    </p:spTree>
    <p:extLst>
      <p:ext uri="{BB962C8B-B14F-4D97-AF65-F5344CB8AC3E}">
        <p14:creationId xmlns:p14="http://schemas.microsoft.com/office/powerpoint/2010/main" val="240130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d-header">
            <a:extLst xmlns:a="http://schemas.openxmlformats.org/drawingml/2006/main">
              <a:ext uri="{FF2B5EF4-FFF2-40B4-BE49-F238E27FC236}">
                <a16:creationId xmlns:a16="http://schemas.microsoft.com/office/drawing/2014/main" id="{E9006CF9-7591-45FA-A28D-7C12934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2" name="red-footer">
            <a:extLst xmlns:a="http://schemas.openxmlformats.org/drawingml/2006/main">
              <a:ext uri="{FF2B5EF4-FFF2-40B4-BE49-F238E27FC236}">
                <a16:creationId xmlns:a16="http://schemas.microsoft.com/office/drawing/2014/main" id="{1A1BA317-63DD-4B77-8406-45A6FD47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</p:sp>
      <p:sp>
        <p:nvSpPr>
          <p:cNvPr id="3" name="header-dot">
            <a:extLst xmlns:a="http://schemas.openxmlformats.org/drawingml/2006/main">
              <a:ext uri="{FF2B5EF4-FFF2-40B4-BE49-F238E27FC236}">
                <a16:creationId xmlns:a16="http://schemas.microsoft.com/office/drawing/2014/main" id="{AD13DFD8-681D-4BD0-835E-5288839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part">
            <a:extLst xmlns:a="http://schemas.openxmlformats.org/drawingml/2006/main">
              <a:ext uri="{FF2B5EF4-FFF2-40B4-BE49-F238E27FC236}">
                <a16:creationId xmlns:a16="http://schemas.microsoft.com/office/drawing/2014/main" id="{BC1672A3-5F6B-46D9-B526-4E801F8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Part3：担当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B66B685-8A64-4B23-95C4-70165D06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19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在集体中持续承担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dee821d074b28"/>
          <a:stretch xmlns:a="http://schemas.openxmlformats.org/drawingml/2006/main"/>
        </p:blipFill>
        <p:spPr>
          <a:xfrm xmlns:a="http://schemas.openxmlformats.org/drawingml/2006/main">
            <a:off x="11068050" y="857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7" name="service-label">
            <a:extLst xmlns:a="http://schemas.openxmlformats.org/drawingml/2006/main">
              <a:ext uri="{FF2B5EF4-FFF2-40B4-BE49-F238E27FC236}">
                <a16:creationId xmlns:a16="http://schemas.microsoft.com/office/drawing/2014/main" id="{48646078-2D7B-445C-B2D3-A540AF0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475297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本科四年连续担任团支部书记</a:t>
            </a:r>
          </a:p>
        </p:txBody>
      </p:sp>
      <p:sp>
        <p:nvSpPr>
          <p:cNvPr id="8" name="service-period">
            <a:extLst xmlns:a="http://schemas.openxmlformats.org/drawingml/2006/main">
              <a:ext uri="{FF2B5EF4-FFF2-40B4-BE49-F238E27FC236}">
                <a16:creationId xmlns:a16="http://schemas.microsoft.com/office/drawing/2014/main" id="{7F6F7FAF-EE57-4C44-9C39-4DB514E9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上一学年继续履职</a:t>
            </a:r>
          </a:p>
        </p:txBody>
      </p:sp>
      <p:sp>
        <p:nvSpPr>
          <p:cNvPr id="9" name="service-class">
            <a:extLst xmlns:a="http://schemas.openxmlformats.org/drawingml/2006/main">
              <a:ext uri="{FF2B5EF4-FFF2-40B4-BE49-F238E27FC236}">
                <a16:creationId xmlns:a16="http://schemas.microsoft.com/office/drawing/2014/main" id="{02FBD4E6-86DE-4C9A-A772-CCBD5CB1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带领班级连续第二年获</a:t>
            </a:r>
          </a:p>
        </p:txBody>
      </p:sp>
      <p:sp>
        <p:nvSpPr>
          <p:cNvPr id="10" name="class-honor">
            <a:extLst xmlns:a="http://schemas.openxmlformats.org/drawingml/2006/main">
              <a:ext uri="{FF2B5EF4-FFF2-40B4-BE49-F238E27FC236}">
                <a16:creationId xmlns:a16="http://schemas.microsoft.com/office/drawing/2014/main" id="{CBFF4218-370B-417D-B6D4-373E02D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81275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统计学院示范班集体</a:t>
            </a:r>
          </a:p>
        </p:txBody>
      </p:sp>
      <p:sp>
        <p:nvSpPr>
          <p:cNvPr id="11" name="class-rank">
            <a:extLst xmlns:a="http://schemas.openxmlformats.org/drawingml/2006/main">
              <a:ext uri="{FF2B5EF4-FFF2-40B4-BE49-F238E27FC236}">
                <a16:creationId xmlns:a16="http://schemas.microsoft.com/office/drawing/2014/main" id="{D6553B1D-A679-4416-9EF2-EE8BCD5E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615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全院评比第 4</a:t>
            </a:r>
          </a:p>
        </p:txBody>
      </p:sp>
      <p:sp>
        <p:nvSpPr>
          <p:cNvPr id="12" name="four-years">
            <a:extLst xmlns:a="http://schemas.openxmlformats.org/drawingml/2006/main">
              <a:ext uri="{FF2B5EF4-FFF2-40B4-BE49-F238E27FC236}">
                <a16:creationId xmlns:a16="http://schemas.microsoft.com/office/drawing/2014/main" id="{8D7CEF25-DCC7-4DBA-ABC7-8B713DA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00125"/>
            <a:ext cx="2981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4 年</a:t>
            </a:r>
          </a:p>
        </p:txBody>
      </p:sp>
      <p:sp>
        <p:nvSpPr>
          <p:cNvPr id="13" name="continuity">
            <a:extLst xmlns:a="http://schemas.openxmlformats.org/drawingml/2006/main">
              <a:ext uri="{FF2B5EF4-FFF2-40B4-BE49-F238E27FC236}">
                <a16:creationId xmlns:a16="http://schemas.microsoft.com/office/drawing/2014/main" id="{72F85F6D-B9EF-408F-B3B8-5AEB1631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47875"/>
            <a:ext cx="398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连续担任团支部书记</a:t>
            </a:r>
          </a:p>
        </p:txBody>
      </p:sp>
      <p:sp>
        <p:nvSpPr>
          <p:cNvPr id="14" name="timeline">
            <a:extLst xmlns:a="http://schemas.openxmlformats.org/drawingml/2006/main">
              <a:ext uri="{FF2B5EF4-FFF2-40B4-BE49-F238E27FC236}">
                <a16:creationId xmlns:a16="http://schemas.microsoft.com/office/drawing/2014/main" id="{C5A8B399-F800-4A61-A716-A38793B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510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大一　　大二　　大三　　大四</a:t>
            </a:r>
          </a:p>
        </p:txBody>
      </p:sp>
      <p:sp>
        <p:nvSpPr>
          <p:cNvPr id="15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3A1C1852-4A15-4750-83A8-5F7579A4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09850"/>
            <a:ext cx="368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16" name="gold-divider">
            <a:extLst xmlns:a="http://schemas.openxmlformats.org/drawingml/2006/main">
              <a:ext uri="{FF2B5EF4-FFF2-40B4-BE49-F238E27FC236}">
                <a16:creationId xmlns:a16="http://schemas.microsoft.com/office/drawing/2014/main" id="{8F1480EC-119F-4CE9-9640-AD5FC5FA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6A15B"/>
            </a:solidFill>
            <a:prstDash val="dash"/>
          </a:ln>
        </p:spPr>
      </p:sp>
      <p:sp>
        <p:nvSpPr>
          <p:cNvPr id="17" name="party-label">
            <a:extLst xmlns:a="http://schemas.openxmlformats.org/drawingml/2006/main">
              <a:ext uri="{FF2B5EF4-FFF2-40B4-BE49-F238E27FC236}">
                <a16:creationId xmlns:a16="http://schemas.microsoft.com/office/drawing/2014/main" id="{7D470168-943A-4553-BD43-378ADF83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1543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00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党团工作</a:t>
            </a:r>
          </a:p>
        </p:txBody>
      </p:sp>
      <p:sp>
        <p:nvSpPr>
          <p:cNvPr id="18" name="party-previous">
            <a:extLst xmlns:a="http://schemas.openxmlformats.org/drawingml/2006/main">
              <a:ext uri="{FF2B5EF4-FFF2-40B4-BE49-F238E27FC236}">
                <a16:creationId xmlns:a16="http://schemas.microsoft.com/office/drawing/2014/main" id="{A7DAC8A8-06ED-4A07-B378-51AB9546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统计学院本科生第一党支部</a:t>
            </a:r>
          </a:p>
        </p:txBody>
      </p:sp>
      <p:sp>
        <p:nvSpPr>
          <p:cNvPr id="19" name="party-role">
            <a:extLst xmlns:a="http://schemas.openxmlformats.org/drawingml/2006/main">
              <a:ext uri="{FF2B5EF4-FFF2-40B4-BE49-F238E27FC236}">
                <a16:creationId xmlns:a16="http://schemas.microsoft.com/office/drawing/2014/main" id="{4669F58E-1E0D-412C-9547-95FF077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纪检委员</a:t>
            </a:r>
          </a:p>
        </p:txBody>
      </p:sp>
      <p:sp>
        <p:nvSpPr>
          <p:cNvPr id="20" name="party-current">
            <a:extLst xmlns:a="http://schemas.openxmlformats.org/drawingml/2006/main">
              <a:ext uri="{FF2B5EF4-FFF2-40B4-BE49-F238E27FC236}">
                <a16:creationId xmlns:a16="http://schemas.microsoft.com/office/drawing/2014/main" id="{FFB9F2A3-F473-46F4-9D2D-B8CC4211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0225"/>
            <a:ext cx="5057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现在：国发院 2026 级研究生党支部书记</a:t>
            </a:r>
          </a:p>
        </p:txBody>
      </p:sp>
      <p:sp>
        <p:nvSpPr>
          <p:cNvPr id="21" name="honor-label">
            <a:extLst xmlns:a="http://schemas.openxmlformats.org/drawingml/2006/main">
              <a:ext uri="{FF2B5EF4-FFF2-40B4-BE49-F238E27FC236}">
                <a16:creationId xmlns:a16="http://schemas.microsoft.com/office/drawing/2014/main" id="{3DC03BCF-B0AE-43D9-AE29-61CD9A8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195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综合荣誉</a:t>
            </a:r>
          </a:p>
        </p:txBody>
      </p:sp>
      <p:sp>
        <p:nvSpPr>
          <p:cNvPr id="22" name="annual-honors">
            <a:extLst xmlns:a="http://schemas.openxmlformats.org/drawingml/2006/main">
              <a:ext uri="{FF2B5EF4-FFF2-40B4-BE49-F238E27FC236}">
                <a16:creationId xmlns:a16="http://schemas.microsoft.com/office/drawing/2014/main" id="{B0A40F21-C340-4553-90F3-ABFC8EA0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05325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上一学年：三好学生、优秀共青团员</a:t>
            </a:r>
          </a:p>
        </p:txBody>
      </p:sp>
      <p:sp>
        <p:nvSpPr>
          <p:cNvPr id="23" name="honor-university">
            <a:extLst xmlns:a="http://schemas.openxmlformats.org/drawingml/2006/main">
              <a:ext uri="{FF2B5EF4-FFF2-40B4-BE49-F238E27FC236}">
                <a16:creationId xmlns:a16="http://schemas.microsoft.com/office/drawing/2014/main" id="{C3343749-6B74-43E1-ADFD-AEC3D6E8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673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中国人民大学</a:t>
            </a:r>
          </a:p>
        </p:txBody>
      </p:sp>
      <p:sp>
        <p:nvSpPr>
          <p:cNvPr id="24" name="graduate-honor">
            <a:extLst xmlns:a="http://schemas.openxmlformats.org/drawingml/2006/main">
              <a:ext uri="{FF2B5EF4-FFF2-40B4-BE49-F238E27FC236}">
                <a16:creationId xmlns:a16="http://schemas.microsoft.com/office/drawing/2014/main" id="{5B11E556-DBE2-41C8-BEB6-D4C2381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400675"/>
            <a:ext cx="5248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优秀毕业生</a:t>
            </a:r>
          </a:p>
        </p:txBody>
      </p:sp>
      <p:sp>
        <p:nvSpPr>
          <p:cNvPr id="25" name="closing">
            <a:extLst xmlns:a="http://schemas.openxmlformats.org/drawingml/2006/main">
              <a:ext uri="{FF2B5EF4-FFF2-40B4-BE49-F238E27FC236}">
                <a16:creationId xmlns:a16="http://schemas.microsoft.com/office/drawing/2014/main" id="{6212BD9F-709F-4A8B-A2C0-B5BCEB6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F0012"/>
                </a:solidFill>
                <a:latin typeface="Microsoft YaHei"/>
                <a:ea typeface="Microsoft YaHei"/>
                <a:cs typeface="Microsoft YaHei"/>
              </a:rPr>
              <a:t>从中国现实问题出发，在规范的经济学训练中持续研究制度、发展与公平。</a:t>
            </a:r>
          </a:p>
        </p:txBody>
      </p:sp>
    </p:spTree>
    <p:extLst>
      <p:ext uri="{BB962C8B-B14F-4D97-AF65-F5344CB8AC3E}">
        <p14:creationId xmlns:p14="http://schemas.microsoft.com/office/powerpoint/2010/main" val="1974168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2026-09-21T03:53:14.0560000Z</dcterms:created>
  <dcterms:modified xsi:type="dcterms:W3CDTF">2026-09-21T03:53:14.0560000Z</dcterms:modified>
</coreProperties>
</file>